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706728" y="2057400"/>
            <a:ext cx="8778240" cy="2468880"/>
          </a:xfrm>
          <a:prstGeom prst="rect">
            <a:avLst/>
          </a:prstGeom>
          <a:solidFill>
            <a:srgbClr val="FFFFFF"/>
          </a:solidFill>
          <a:ln/>
          <a:effectLst>
            <a:outerShdw sx="100000" sy="100000" kx="0" ky="0" algn="bl" rotWithShape="0" blurRad="228600" dist="76200" dir="5400000">
              <a:srgbClr val="1A1A2E">
                <a:alpha val="35000"/>
              </a:srgbClr>
            </a:outerShdw>
          </a:effectLst>
        </p:spPr>
      </p:sp>
      <p:sp>
        <p:nvSpPr>
          <p:cNvPr id="3" name="Text 1"/>
          <p:cNvSpPr txBox="1"/>
          <p:nvPr/>
        </p:nvSpPr>
        <p:spPr>
          <a:xfrm>
            <a:off x="1706728" y="2404872"/>
            <a:ext cx="8778240" cy="365760"/>
          </a:xfrm>
          <a:prstGeom prst="rect">
            <a:avLst/>
          </a:prstGeom>
          <a:noFill/>
          <a:ln/>
        </p:spPr>
        <p:txBody>
          <a:bodyPr wrap="square" lIns="0" tIns="0" rIns="0" bIns="0" rtlCol="0" anchor="ctr"/>
          <a:lstStyle/>
          <a:p>
            <a:pPr algn="ctr" indent="0" marL="0">
              <a:buNone/>
            </a:pPr>
            <a:r>
              <a:rPr lang="en-US" sz="1700" spc="300" kern="0" dirty="0">
                <a:solidFill>
                  <a:srgbClr val="6E6879"/>
                </a:solidFill>
                <a:latin typeface="Calibri" pitchFamily="34" charset="0"/>
                <a:ea typeface="Calibri" pitchFamily="34" charset="-122"/>
                <a:cs typeface="Calibri" pitchFamily="34" charset="-120"/>
              </a:rPr>
              <a:t>CHOOSING DATASET &amp; MODELS FOR</a:t>
            </a:r>
            <a:endParaRPr lang="en-US" sz="1700" dirty="0"/>
          </a:p>
        </p:txBody>
      </p:sp>
      <p:sp>
        <p:nvSpPr>
          <p:cNvPr id="4" name="Text 2"/>
          <p:cNvSpPr txBox="1"/>
          <p:nvPr/>
        </p:nvSpPr>
        <p:spPr>
          <a:xfrm>
            <a:off x="1981048" y="2898648"/>
            <a:ext cx="8229600" cy="1051560"/>
          </a:xfrm>
          <a:prstGeom prst="rect">
            <a:avLst/>
          </a:prstGeom>
          <a:noFill/>
          <a:ln/>
        </p:spPr>
        <p:txBody>
          <a:bodyPr wrap="square" lIns="0" tIns="0" rIns="0" bIns="0" rtlCol="0" anchor="ctr"/>
          <a:lstStyle/>
          <a:p>
            <a:pPr algn="ctr" indent="0" marL="0">
              <a:buNone/>
            </a:pPr>
            <a:r>
              <a:rPr lang="en-US" sz="3800" b="1" dirty="0">
                <a:solidFill>
                  <a:srgbClr val="5B2C91"/>
                </a:solidFill>
                <a:latin typeface="Cambria" pitchFamily="34" charset="0"/>
                <a:ea typeface="Cambria" pitchFamily="34" charset="-122"/>
                <a:cs typeface="Cambria" pitchFamily="34" charset="-120"/>
              </a:rPr>
              <a:t>ECG ARRHYTHMIA CLASSIFICATION</a:t>
            </a:r>
            <a:endParaRPr lang="en-US" sz="3800" dirty="0"/>
          </a:p>
        </p:txBody>
      </p:sp>
      <p:sp>
        <p:nvSpPr>
          <p:cNvPr id="5" name="Text 3"/>
          <p:cNvSpPr txBox="1"/>
          <p:nvPr/>
        </p:nvSpPr>
        <p:spPr>
          <a:xfrm>
            <a:off x="1706728" y="3995928"/>
            <a:ext cx="8778240" cy="384048"/>
          </a:xfrm>
          <a:prstGeom prst="rect">
            <a:avLst/>
          </a:prstGeom>
          <a:noFill/>
          <a:ln/>
        </p:spPr>
        <p:txBody>
          <a:bodyPr wrap="square" lIns="0" tIns="0" rIns="0" bIns="0" rtlCol="0" anchor="ctr"/>
          <a:lstStyle/>
          <a:p>
            <a:pPr algn="ctr" indent="0" marL="0">
              <a:buNone/>
            </a:pPr>
            <a:r>
              <a:rPr lang="en-US" sz="1500" i="1" dirty="0">
                <a:solidFill>
                  <a:srgbClr val="128C7E"/>
                </a:solidFill>
                <a:latin typeface="Calibri" pitchFamily="34" charset="0"/>
                <a:ea typeface="Calibri" pitchFamily="34" charset="-122"/>
                <a:cs typeface="Calibri" pitchFamily="34" charset="-120"/>
              </a:rPr>
              <a:t>Dataset  •  Model Selection  •  Comparative Study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AFC"/>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65760"/>
          </a:xfrm>
          <a:prstGeom prst="rect">
            <a:avLst/>
          </a:prstGeom>
          <a:noFill/>
          <a:ln/>
        </p:spPr>
        <p:txBody>
          <a:bodyPr wrap="square" lIns="0" tIns="0" rIns="0" bIns="0" rtlCol="0" anchor="ctr"/>
          <a:lstStyle/>
          <a:p>
            <a:pPr indent="0" marL="0">
              <a:buNone/>
            </a:pPr>
            <a:r>
              <a:rPr lang="en-US" sz="1400" b="1" spc="200" kern="0" dirty="0">
                <a:solidFill>
                  <a:srgbClr val="128C7E"/>
                </a:solidFill>
                <a:latin typeface="Calibri" pitchFamily="34" charset="0"/>
                <a:ea typeface="Calibri" pitchFamily="34" charset="-122"/>
                <a:cs typeface="Calibri" pitchFamily="34" charset="-120"/>
              </a:rPr>
              <a:t>STEP 1 — THE DATA</a:t>
            </a:r>
            <a:endParaRPr lang="en-US" sz="1400" dirty="0"/>
          </a:p>
        </p:txBody>
      </p:sp>
      <p:sp>
        <p:nvSpPr>
          <p:cNvPr id="3" name="Text 1"/>
          <p:cNvSpPr txBox="1"/>
          <p:nvPr/>
        </p:nvSpPr>
        <p:spPr>
          <a:xfrm>
            <a:off x="548640" y="777240"/>
            <a:ext cx="7315200" cy="685800"/>
          </a:xfrm>
          <a:prstGeom prst="rect">
            <a:avLst/>
          </a:prstGeom>
          <a:noFill/>
          <a:ln/>
        </p:spPr>
        <p:txBody>
          <a:bodyPr wrap="square" lIns="0" tIns="0" rIns="0" bIns="0" rtlCol="0" anchor="ctr"/>
          <a:lstStyle/>
          <a:p>
            <a:pPr indent="0" marL="0">
              <a:buNone/>
            </a:pPr>
            <a:r>
              <a:rPr lang="en-US" sz="3300" b="1" dirty="0">
                <a:solidFill>
                  <a:srgbClr val="2B2340"/>
                </a:solidFill>
                <a:latin typeface="Cambria" pitchFamily="34" charset="0"/>
                <a:ea typeface="Cambria" pitchFamily="34" charset="-122"/>
                <a:cs typeface="Cambria" pitchFamily="34" charset="-120"/>
              </a:rPr>
              <a:t>The Dataset We're Using</a:t>
            </a:r>
            <a:endParaRPr lang="en-US" sz="3300" dirty="0"/>
          </a:p>
        </p:txBody>
      </p:sp>
      <p:sp>
        <p:nvSpPr>
          <p:cNvPr id="4" name="Text 2"/>
          <p:cNvSpPr txBox="1"/>
          <p:nvPr/>
        </p:nvSpPr>
        <p:spPr>
          <a:xfrm>
            <a:off x="548640" y="1691640"/>
            <a:ext cx="6309360" cy="1508760"/>
          </a:xfrm>
          <a:prstGeom prst="rect">
            <a:avLst/>
          </a:prstGeom>
          <a:noFill/>
          <a:ln/>
        </p:spPr>
        <p:txBody>
          <a:bodyPr wrap="square" lIns="0" tIns="0" rIns="0" bIns="0" rtlCol="0" anchor="ctr"/>
          <a:lstStyle/>
          <a:p>
            <a:pPr indent="0" marL="0">
              <a:lnSpc>
                <a:spcPts val="2500"/>
              </a:lnSpc>
              <a:buNone/>
            </a:pPr>
            <a:r>
              <a:rPr lang="en-US" sz="1800" dirty="0">
                <a:solidFill>
                  <a:srgbClr val="2B2340"/>
                </a:solidFill>
                <a:latin typeface="Calibri" pitchFamily="34" charset="0"/>
                <a:ea typeface="Calibri" pitchFamily="34" charset="-122"/>
                <a:cs typeface="Calibri" pitchFamily="34" charset="-120"/>
              </a:rPr>
              <a:t>We use the MIT-BIH Arrhythmia Dataset, published on Kaggle as the “ECG Heartbeat Categorization Dataset.” Every heartbeat has already been segmented from raw patient ECG recordings, so the signal shape is ready to feed directly into a model.</a:t>
            </a:r>
            <a:endParaRPr lang="en-US" sz="1800" dirty="0"/>
          </a:p>
        </p:txBody>
      </p:sp>
      <p:sp>
        <p:nvSpPr>
          <p:cNvPr id="5" name="Shape 3"/>
          <p:cNvSpPr/>
          <p:nvPr/>
        </p:nvSpPr>
        <p:spPr>
          <a:xfrm>
            <a:off x="548640" y="3319272"/>
            <a:ext cx="146304" cy="146304"/>
          </a:xfrm>
          <a:prstGeom prst="ellipse">
            <a:avLst/>
          </a:prstGeom>
          <a:solidFill>
            <a:srgbClr val="128C7E"/>
          </a:solidFill>
          <a:ln/>
        </p:spPr>
      </p:sp>
      <p:sp>
        <p:nvSpPr>
          <p:cNvPr id="6" name="Text 4"/>
          <p:cNvSpPr txBox="1"/>
          <p:nvPr/>
        </p:nvSpPr>
        <p:spPr>
          <a:xfrm>
            <a:off x="868680" y="3099816"/>
            <a:ext cx="6126480" cy="548640"/>
          </a:xfrm>
          <a:prstGeom prst="rect">
            <a:avLst/>
          </a:prstGeom>
          <a:noFill/>
          <a:ln/>
        </p:spPr>
        <p:txBody>
          <a:bodyPr wrap="square" lIns="0" tIns="0" rIns="0" bIns="0" rtlCol="0" anchor="ctr"/>
          <a:lstStyle/>
          <a:p>
            <a:pPr indent="0" marL="0">
              <a:lnSpc>
                <a:spcPts val="2100"/>
              </a:lnSpc>
              <a:buNone/>
            </a:pPr>
            <a:r>
              <a:rPr lang="en-US" sz="1700" b="1" dirty="0">
                <a:solidFill>
                  <a:srgbClr val="128C7E"/>
                </a:solidFill>
                <a:latin typeface="Calibri" pitchFamily="34" charset="0"/>
                <a:ea typeface="Calibri" pitchFamily="34" charset="-122"/>
                <a:cs typeface="Calibri" pitchFamily="34" charset="-120"/>
              </a:rPr>
              <a:t>Source:  </a:t>
            </a:r>
            <a:pPr indent="0" marL="0">
              <a:lnSpc>
                <a:spcPts val="2100"/>
              </a:lnSpc>
              <a:buNone/>
            </a:pPr>
            <a:r>
              <a:rPr lang="en-US" sz="1700" dirty="0">
                <a:solidFill>
                  <a:srgbClr val="2B2340"/>
                </a:solidFill>
                <a:latin typeface="Calibri" pitchFamily="34" charset="0"/>
                <a:ea typeface="Calibri" pitchFamily="34" charset="-122"/>
                <a:cs typeface="Calibri" pitchFamily="34" charset="-120"/>
              </a:rPr>
              <a:t>Kaggle — ECG Heartbeat Categorization Dataset (MIT-BIH)</a:t>
            </a:r>
            <a:endParaRPr lang="en-US" sz="1700" dirty="0"/>
          </a:p>
        </p:txBody>
      </p:sp>
      <p:sp>
        <p:nvSpPr>
          <p:cNvPr id="7" name="Shape 5"/>
          <p:cNvSpPr/>
          <p:nvPr/>
        </p:nvSpPr>
        <p:spPr>
          <a:xfrm>
            <a:off x="548640" y="4050792"/>
            <a:ext cx="146304" cy="146304"/>
          </a:xfrm>
          <a:prstGeom prst="ellipse">
            <a:avLst/>
          </a:prstGeom>
          <a:solidFill>
            <a:srgbClr val="128C7E"/>
          </a:solidFill>
          <a:ln/>
        </p:spPr>
      </p:sp>
      <p:sp>
        <p:nvSpPr>
          <p:cNvPr id="8" name="Text 6"/>
          <p:cNvSpPr txBox="1"/>
          <p:nvPr/>
        </p:nvSpPr>
        <p:spPr>
          <a:xfrm>
            <a:off x="868680" y="3831336"/>
            <a:ext cx="6126480" cy="548640"/>
          </a:xfrm>
          <a:prstGeom prst="rect">
            <a:avLst/>
          </a:prstGeom>
          <a:noFill/>
          <a:ln/>
        </p:spPr>
        <p:txBody>
          <a:bodyPr wrap="square" lIns="0" tIns="0" rIns="0" bIns="0" rtlCol="0" anchor="ctr"/>
          <a:lstStyle/>
          <a:p>
            <a:pPr indent="0" marL="0">
              <a:lnSpc>
                <a:spcPts val="2100"/>
              </a:lnSpc>
              <a:buNone/>
            </a:pPr>
            <a:r>
              <a:rPr lang="en-US" sz="1700" b="1" dirty="0">
                <a:solidFill>
                  <a:srgbClr val="128C7E"/>
                </a:solidFill>
                <a:latin typeface="Calibri" pitchFamily="34" charset="0"/>
                <a:ea typeface="Calibri" pitchFamily="34" charset="-122"/>
                <a:cs typeface="Calibri" pitchFamily="34" charset="-120"/>
              </a:rPr>
              <a:t>Size:  </a:t>
            </a:r>
            <a:pPr indent="0" marL="0">
              <a:lnSpc>
                <a:spcPts val="2100"/>
              </a:lnSpc>
              <a:buNone/>
            </a:pPr>
            <a:r>
              <a:rPr lang="en-US" sz="1700" dirty="0">
                <a:solidFill>
                  <a:srgbClr val="2B2340"/>
                </a:solidFill>
                <a:latin typeface="Calibri" pitchFamily="34" charset="0"/>
                <a:ea typeface="Calibri" pitchFamily="34" charset="-122"/>
                <a:cs typeface="Calibri" pitchFamily="34" charset="-120"/>
              </a:rPr>
              <a:t>109,446 individually segmented heartbeats</a:t>
            </a:r>
            <a:endParaRPr lang="en-US" sz="1700" dirty="0"/>
          </a:p>
        </p:txBody>
      </p:sp>
      <p:sp>
        <p:nvSpPr>
          <p:cNvPr id="9" name="Shape 7"/>
          <p:cNvSpPr/>
          <p:nvPr/>
        </p:nvSpPr>
        <p:spPr>
          <a:xfrm>
            <a:off x="548640" y="4782312"/>
            <a:ext cx="146304" cy="146304"/>
          </a:xfrm>
          <a:prstGeom prst="ellipse">
            <a:avLst/>
          </a:prstGeom>
          <a:solidFill>
            <a:srgbClr val="128C7E"/>
          </a:solidFill>
          <a:ln/>
        </p:spPr>
      </p:sp>
      <p:sp>
        <p:nvSpPr>
          <p:cNvPr id="10" name="Text 8"/>
          <p:cNvSpPr txBox="1"/>
          <p:nvPr/>
        </p:nvSpPr>
        <p:spPr>
          <a:xfrm>
            <a:off x="868680" y="4562856"/>
            <a:ext cx="6126480" cy="548640"/>
          </a:xfrm>
          <a:prstGeom prst="rect">
            <a:avLst/>
          </a:prstGeom>
          <a:noFill/>
          <a:ln/>
        </p:spPr>
        <p:txBody>
          <a:bodyPr wrap="square" lIns="0" tIns="0" rIns="0" bIns="0" rtlCol="0" anchor="ctr"/>
          <a:lstStyle/>
          <a:p>
            <a:pPr indent="0" marL="0">
              <a:lnSpc>
                <a:spcPts val="2100"/>
              </a:lnSpc>
              <a:buNone/>
            </a:pPr>
            <a:r>
              <a:rPr lang="en-US" sz="1700" b="1" dirty="0">
                <a:solidFill>
                  <a:srgbClr val="128C7E"/>
                </a:solidFill>
                <a:latin typeface="Calibri" pitchFamily="34" charset="0"/>
                <a:ea typeface="Calibri" pitchFamily="34" charset="-122"/>
                <a:cs typeface="Calibri" pitchFamily="34" charset="-120"/>
              </a:rPr>
              <a:t>Sequence length:  </a:t>
            </a:r>
            <a:pPr indent="0" marL="0">
              <a:lnSpc>
                <a:spcPts val="2100"/>
              </a:lnSpc>
              <a:buNone/>
            </a:pPr>
            <a:r>
              <a:rPr lang="en-US" sz="1700" dirty="0">
                <a:solidFill>
                  <a:srgbClr val="2B2340"/>
                </a:solidFill>
                <a:latin typeface="Calibri" pitchFamily="34" charset="0"/>
                <a:ea typeface="Calibri" pitchFamily="34" charset="-122"/>
                <a:cs typeface="Calibri" pitchFamily="34" charset="-120"/>
              </a:rPr>
              <a:t>187 time-steps per heartbeat, sampled at 125 Hz</a:t>
            </a:r>
            <a:endParaRPr lang="en-US" sz="1700" dirty="0"/>
          </a:p>
        </p:txBody>
      </p:sp>
      <p:sp>
        <p:nvSpPr>
          <p:cNvPr id="11" name="Shape 9"/>
          <p:cNvSpPr/>
          <p:nvPr/>
        </p:nvSpPr>
        <p:spPr>
          <a:xfrm>
            <a:off x="548640" y="5513832"/>
            <a:ext cx="146304" cy="146304"/>
          </a:xfrm>
          <a:prstGeom prst="ellipse">
            <a:avLst/>
          </a:prstGeom>
          <a:solidFill>
            <a:srgbClr val="128C7E"/>
          </a:solidFill>
          <a:ln/>
        </p:spPr>
      </p:sp>
      <p:sp>
        <p:nvSpPr>
          <p:cNvPr id="12" name="Text 10"/>
          <p:cNvSpPr txBox="1"/>
          <p:nvPr/>
        </p:nvSpPr>
        <p:spPr>
          <a:xfrm>
            <a:off x="868680" y="5294376"/>
            <a:ext cx="6126480" cy="548640"/>
          </a:xfrm>
          <a:prstGeom prst="rect">
            <a:avLst/>
          </a:prstGeom>
          <a:noFill/>
          <a:ln/>
        </p:spPr>
        <p:txBody>
          <a:bodyPr wrap="square" lIns="0" tIns="0" rIns="0" bIns="0" rtlCol="0" anchor="ctr"/>
          <a:lstStyle/>
          <a:p>
            <a:pPr indent="0" marL="0">
              <a:lnSpc>
                <a:spcPts val="2100"/>
              </a:lnSpc>
              <a:buNone/>
            </a:pPr>
            <a:r>
              <a:rPr lang="en-US" sz="1700" b="1" dirty="0">
                <a:solidFill>
                  <a:srgbClr val="128C7E"/>
                </a:solidFill>
                <a:latin typeface="Calibri" pitchFamily="34" charset="0"/>
                <a:ea typeface="Calibri" pitchFamily="34" charset="-122"/>
                <a:cs typeface="Calibri" pitchFamily="34" charset="-120"/>
              </a:rPr>
              <a:t>Classes:  </a:t>
            </a:r>
            <a:pPr indent="0" marL="0">
              <a:lnSpc>
                <a:spcPts val="2100"/>
              </a:lnSpc>
              <a:buNone/>
            </a:pPr>
            <a:r>
              <a:rPr lang="en-US" sz="1700" dirty="0">
                <a:solidFill>
                  <a:srgbClr val="2B2340"/>
                </a:solidFill>
                <a:latin typeface="Calibri" pitchFamily="34" charset="0"/>
                <a:ea typeface="Calibri" pitchFamily="34" charset="-122"/>
                <a:cs typeface="Calibri" pitchFamily="34" charset="-120"/>
              </a:rPr>
              <a:t>5 types — Normal, Supraventricular, Ventricular, Fusion, Unknown</a:t>
            </a:r>
            <a:endParaRPr lang="en-US" sz="1700" dirty="0"/>
          </a:p>
        </p:txBody>
      </p:sp>
      <p:sp>
        <p:nvSpPr>
          <p:cNvPr id="13" name="Shape 11"/>
          <p:cNvSpPr/>
          <p:nvPr/>
        </p:nvSpPr>
        <p:spPr>
          <a:xfrm>
            <a:off x="8732520" y="1554480"/>
            <a:ext cx="1554480" cy="1554480"/>
          </a:xfrm>
          <a:prstGeom prst="ellipse">
            <a:avLst/>
          </a:prstGeom>
          <a:solidFill>
            <a:srgbClr val="128C7E"/>
          </a:solidFill>
          <a:ln/>
          <a:effectLst>
            <a:outerShdw sx="100000" sy="100000" kx="0" ky="0" algn="bl" rotWithShape="0" blurRad="127000" dist="38100" dir="5400000">
              <a:srgbClr val="1A1A2E">
                <a:alpha val="25000"/>
              </a:srgbClr>
            </a:outerShdw>
          </a:effectLst>
        </p:spPr>
      </p:sp>
      <p:pic>
        <p:nvPicPr>
          <p:cNvPr id="14" name="Image 0" descr="/home/claude/ecg_deck/icon_ecg_wave.png">    </p:cNvPr>
          <p:cNvPicPr>
            <a:picLocks noChangeAspect="1"/>
          </p:cNvPicPr>
          <p:nvPr/>
        </p:nvPicPr>
        <p:blipFill>
          <a:blip r:embed="rId1"/>
          <a:stretch>
            <a:fillRect/>
          </a:stretch>
        </p:blipFill>
        <p:spPr>
          <a:xfrm>
            <a:off x="9121140" y="1943100"/>
            <a:ext cx="777240" cy="777240"/>
          </a:xfrm>
          <a:prstGeom prst="rect">
            <a:avLst/>
          </a:prstGeom>
        </p:spPr>
      </p:pic>
      <p:sp>
        <p:nvSpPr>
          <p:cNvPr id="15" name="Shape 12"/>
          <p:cNvSpPr/>
          <p:nvPr/>
        </p:nvSpPr>
        <p:spPr>
          <a:xfrm>
            <a:off x="8275320" y="3520440"/>
            <a:ext cx="2468880" cy="457200"/>
          </a:xfrm>
          <a:prstGeom prst="roundRect">
            <a:avLst>
              <a:gd name="adj" fmla="val 16000"/>
            </a:avLst>
          </a:prstGeom>
          <a:solidFill>
            <a:srgbClr val="FFFFFF"/>
          </a:solidFill>
          <a:ln w="15875">
            <a:solidFill>
              <a:srgbClr val="128C7E"/>
            </a:solidFill>
            <a:prstDash val="solid"/>
          </a:ln>
        </p:spPr>
      </p:sp>
      <p:sp>
        <p:nvSpPr>
          <p:cNvPr id="16" name="Text 13"/>
          <p:cNvSpPr txBox="1"/>
          <p:nvPr/>
        </p:nvSpPr>
        <p:spPr>
          <a:xfrm>
            <a:off x="8275320" y="3520440"/>
            <a:ext cx="2468880" cy="457200"/>
          </a:xfrm>
          <a:prstGeom prst="rect">
            <a:avLst/>
          </a:prstGeom>
          <a:noFill/>
          <a:ln/>
        </p:spPr>
        <p:txBody>
          <a:bodyPr wrap="square" lIns="0" tIns="0" rIns="0" bIns="0" rtlCol="0" anchor="ctr"/>
          <a:lstStyle/>
          <a:p>
            <a:pPr algn="ctr" indent="0" marL="0">
              <a:buNone/>
            </a:pPr>
            <a:r>
              <a:rPr lang="en-US" sz="1300" b="1" dirty="0">
                <a:solidFill>
                  <a:srgbClr val="128C7E"/>
                </a:solidFill>
                <a:latin typeface="Calibri" pitchFamily="34" charset="0"/>
                <a:ea typeface="Calibri" pitchFamily="34" charset="-122"/>
                <a:cs typeface="Calibri" pitchFamily="34" charset="-120"/>
              </a:rPr>
              <a:t>Normal (N)</a:t>
            </a:r>
            <a:endParaRPr lang="en-US" sz="1300" dirty="0"/>
          </a:p>
        </p:txBody>
      </p:sp>
      <p:sp>
        <p:nvSpPr>
          <p:cNvPr id="17" name="Shape 14"/>
          <p:cNvSpPr/>
          <p:nvPr/>
        </p:nvSpPr>
        <p:spPr>
          <a:xfrm>
            <a:off x="8275320" y="4087368"/>
            <a:ext cx="2468880" cy="457200"/>
          </a:xfrm>
          <a:prstGeom prst="roundRect">
            <a:avLst>
              <a:gd name="adj" fmla="val 16000"/>
            </a:avLst>
          </a:prstGeom>
          <a:solidFill>
            <a:srgbClr val="FFFFFF"/>
          </a:solidFill>
          <a:ln w="15875">
            <a:solidFill>
              <a:srgbClr val="E8552C"/>
            </a:solidFill>
            <a:prstDash val="solid"/>
          </a:ln>
        </p:spPr>
      </p:sp>
      <p:sp>
        <p:nvSpPr>
          <p:cNvPr id="18" name="Text 15"/>
          <p:cNvSpPr txBox="1"/>
          <p:nvPr/>
        </p:nvSpPr>
        <p:spPr>
          <a:xfrm>
            <a:off x="8275320" y="4087368"/>
            <a:ext cx="2468880" cy="457200"/>
          </a:xfrm>
          <a:prstGeom prst="rect">
            <a:avLst/>
          </a:prstGeom>
          <a:noFill/>
          <a:ln/>
        </p:spPr>
        <p:txBody>
          <a:bodyPr wrap="square" lIns="0" tIns="0" rIns="0" bIns="0" rtlCol="0" anchor="ctr"/>
          <a:lstStyle/>
          <a:p>
            <a:pPr algn="ctr" indent="0" marL="0">
              <a:buNone/>
            </a:pPr>
            <a:r>
              <a:rPr lang="en-US" sz="1300" b="1" dirty="0">
                <a:solidFill>
                  <a:srgbClr val="E8552C"/>
                </a:solidFill>
                <a:latin typeface="Calibri" pitchFamily="34" charset="0"/>
                <a:ea typeface="Calibri" pitchFamily="34" charset="-122"/>
                <a:cs typeface="Calibri" pitchFamily="34" charset="-120"/>
              </a:rPr>
              <a:t>Supraventricular (S)</a:t>
            </a:r>
            <a:endParaRPr lang="en-US" sz="1300" dirty="0"/>
          </a:p>
        </p:txBody>
      </p:sp>
      <p:sp>
        <p:nvSpPr>
          <p:cNvPr id="19" name="Shape 16"/>
          <p:cNvSpPr/>
          <p:nvPr/>
        </p:nvSpPr>
        <p:spPr>
          <a:xfrm>
            <a:off x="8275320" y="4654296"/>
            <a:ext cx="2468880" cy="457200"/>
          </a:xfrm>
          <a:prstGeom prst="roundRect">
            <a:avLst>
              <a:gd name="adj" fmla="val 16000"/>
            </a:avLst>
          </a:prstGeom>
          <a:solidFill>
            <a:srgbClr val="FFFFFF"/>
          </a:solidFill>
          <a:ln w="15875">
            <a:solidFill>
              <a:srgbClr val="5B2C91"/>
            </a:solidFill>
            <a:prstDash val="solid"/>
          </a:ln>
        </p:spPr>
      </p:sp>
      <p:sp>
        <p:nvSpPr>
          <p:cNvPr id="20" name="Text 17"/>
          <p:cNvSpPr txBox="1"/>
          <p:nvPr/>
        </p:nvSpPr>
        <p:spPr>
          <a:xfrm>
            <a:off x="8275320" y="4654296"/>
            <a:ext cx="2468880" cy="457200"/>
          </a:xfrm>
          <a:prstGeom prst="rect">
            <a:avLst/>
          </a:prstGeom>
          <a:noFill/>
          <a:ln/>
        </p:spPr>
        <p:txBody>
          <a:bodyPr wrap="square" lIns="0" tIns="0" rIns="0" bIns="0" rtlCol="0" anchor="ctr"/>
          <a:lstStyle/>
          <a:p>
            <a:pPr algn="ctr" indent="0" marL="0">
              <a:buNone/>
            </a:pPr>
            <a:r>
              <a:rPr lang="en-US" sz="1300" b="1" dirty="0">
                <a:solidFill>
                  <a:srgbClr val="5B2C91"/>
                </a:solidFill>
                <a:latin typeface="Calibri" pitchFamily="34" charset="0"/>
                <a:ea typeface="Calibri" pitchFamily="34" charset="-122"/>
                <a:cs typeface="Calibri" pitchFamily="34" charset="-120"/>
              </a:rPr>
              <a:t>Ventricular (V)</a:t>
            </a:r>
            <a:endParaRPr lang="en-US" sz="1300" dirty="0"/>
          </a:p>
        </p:txBody>
      </p:sp>
      <p:sp>
        <p:nvSpPr>
          <p:cNvPr id="21" name="Shape 18"/>
          <p:cNvSpPr/>
          <p:nvPr/>
        </p:nvSpPr>
        <p:spPr>
          <a:xfrm>
            <a:off x="8275320" y="5221224"/>
            <a:ext cx="2468880" cy="457200"/>
          </a:xfrm>
          <a:prstGeom prst="roundRect">
            <a:avLst>
              <a:gd name="adj" fmla="val 16000"/>
            </a:avLst>
          </a:prstGeom>
          <a:solidFill>
            <a:srgbClr val="FFFFFF"/>
          </a:solidFill>
          <a:ln w="15875">
            <a:solidFill>
              <a:srgbClr val="E8A72C"/>
            </a:solidFill>
            <a:prstDash val="solid"/>
          </a:ln>
        </p:spPr>
      </p:sp>
      <p:sp>
        <p:nvSpPr>
          <p:cNvPr id="22" name="Text 19"/>
          <p:cNvSpPr txBox="1"/>
          <p:nvPr/>
        </p:nvSpPr>
        <p:spPr>
          <a:xfrm>
            <a:off x="8275320" y="5221224"/>
            <a:ext cx="2468880" cy="457200"/>
          </a:xfrm>
          <a:prstGeom prst="rect">
            <a:avLst/>
          </a:prstGeom>
          <a:noFill/>
          <a:ln/>
        </p:spPr>
        <p:txBody>
          <a:bodyPr wrap="square" lIns="0" tIns="0" rIns="0" bIns="0" rtlCol="0" anchor="ctr"/>
          <a:lstStyle/>
          <a:p>
            <a:pPr algn="ctr" indent="0" marL="0">
              <a:buNone/>
            </a:pPr>
            <a:r>
              <a:rPr lang="en-US" sz="1300" b="1" dirty="0">
                <a:solidFill>
                  <a:srgbClr val="E8A72C"/>
                </a:solidFill>
                <a:latin typeface="Calibri" pitchFamily="34" charset="0"/>
                <a:ea typeface="Calibri" pitchFamily="34" charset="-122"/>
                <a:cs typeface="Calibri" pitchFamily="34" charset="-120"/>
              </a:rPr>
              <a:t>Fusion (F)</a:t>
            </a:r>
            <a:endParaRPr lang="en-US" sz="1300" dirty="0"/>
          </a:p>
        </p:txBody>
      </p:sp>
      <p:sp>
        <p:nvSpPr>
          <p:cNvPr id="23" name="Shape 20"/>
          <p:cNvSpPr/>
          <p:nvPr/>
        </p:nvSpPr>
        <p:spPr>
          <a:xfrm>
            <a:off x="8275320" y="5788152"/>
            <a:ext cx="2468880" cy="457200"/>
          </a:xfrm>
          <a:prstGeom prst="roundRect">
            <a:avLst>
              <a:gd name="adj" fmla="val 16000"/>
            </a:avLst>
          </a:prstGeom>
          <a:solidFill>
            <a:srgbClr val="FFFFFF"/>
          </a:solidFill>
          <a:ln w="15875">
            <a:solidFill>
              <a:srgbClr val="128C7E"/>
            </a:solidFill>
            <a:prstDash val="solid"/>
          </a:ln>
        </p:spPr>
      </p:sp>
      <p:sp>
        <p:nvSpPr>
          <p:cNvPr id="24" name="Text 21"/>
          <p:cNvSpPr txBox="1"/>
          <p:nvPr/>
        </p:nvSpPr>
        <p:spPr>
          <a:xfrm>
            <a:off x="8275320" y="5788152"/>
            <a:ext cx="2468880" cy="457200"/>
          </a:xfrm>
          <a:prstGeom prst="rect">
            <a:avLst/>
          </a:prstGeom>
          <a:noFill/>
          <a:ln/>
        </p:spPr>
        <p:txBody>
          <a:bodyPr wrap="square" lIns="0" tIns="0" rIns="0" bIns="0" rtlCol="0" anchor="ctr"/>
          <a:lstStyle/>
          <a:p>
            <a:pPr algn="ctr" indent="0" marL="0">
              <a:buNone/>
            </a:pPr>
            <a:r>
              <a:rPr lang="en-US" sz="1300" b="1" dirty="0">
                <a:solidFill>
                  <a:srgbClr val="128C7E"/>
                </a:solidFill>
                <a:latin typeface="Calibri" pitchFamily="34" charset="0"/>
                <a:ea typeface="Calibri" pitchFamily="34" charset="-122"/>
                <a:cs typeface="Calibri" pitchFamily="34" charset="-120"/>
              </a:rPr>
              <a:t>Unknown (Q)</a:t>
            </a:r>
            <a:endParaRPr lang="en-US" sz="1300" dirty="0"/>
          </a:p>
        </p:txBody>
      </p:sp>
      <p:sp>
        <p:nvSpPr>
          <p:cNvPr id="25" name="Text 22"/>
          <p:cNvSpPr txBox="1"/>
          <p:nvPr/>
        </p:nvSpPr>
        <p:spPr>
          <a:xfrm>
            <a:off x="11368735" y="6355080"/>
            <a:ext cx="548640" cy="274320"/>
          </a:xfrm>
          <a:prstGeom prst="rect">
            <a:avLst/>
          </a:prstGeom>
          <a:noFill/>
          <a:ln/>
        </p:spPr>
        <p:txBody>
          <a:bodyPr wrap="square" lIns="0" tIns="0" rIns="0" bIns="0" rtlCol="0" anchor="ctr"/>
          <a:lstStyle/>
          <a:p>
            <a:pPr algn="r" indent="0" marL="0">
              <a:buNone/>
            </a:pPr>
            <a:r>
              <a:rPr lang="en-US" sz="1100" dirty="0">
                <a:solidFill>
                  <a:srgbClr val="6E6879"/>
                </a:solidFill>
                <a:latin typeface="Calibri" pitchFamily="34" charset="0"/>
                <a:ea typeface="Calibri" pitchFamily="34" charset="-122"/>
                <a:cs typeface="Calibri"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AFC"/>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65760"/>
          </a:xfrm>
          <a:prstGeom prst="rect">
            <a:avLst/>
          </a:prstGeom>
          <a:noFill/>
          <a:ln/>
        </p:spPr>
        <p:txBody>
          <a:bodyPr wrap="square" lIns="0" tIns="0" rIns="0" bIns="0" rtlCol="0" anchor="ctr"/>
          <a:lstStyle/>
          <a:p>
            <a:pPr indent="0" marL="0">
              <a:buNone/>
            </a:pPr>
            <a:r>
              <a:rPr lang="en-US" sz="1400" b="1" spc="200" kern="0" dirty="0">
                <a:solidFill>
                  <a:srgbClr val="5B2C91"/>
                </a:solidFill>
                <a:latin typeface="Calibri" pitchFamily="34" charset="0"/>
                <a:ea typeface="Calibri" pitchFamily="34" charset="-122"/>
                <a:cs typeface="Calibri" pitchFamily="34" charset="-120"/>
              </a:rPr>
              <a:t>STEP 2 — THE MODELS</a:t>
            </a:r>
            <a:endParaRPr lang="en-US" sz="1400" dirty="0"/>
          </a:p>
        </p:txBody>
      </p:sp>
      <p:sp>
        <p:nvSpPr>
          <p:cNvPr id="3" name="Text 1"/>
          <p:cNvSpPr txBox="1"/>
          <p:nvPr/>
        </p:nvSpPr>
        <p:spPr>
          <a:xfrm>
            <a:off x="548640" y="777240"/>
            <a:ext cx="9144000" cy="685800"/>
          </a:xfrm>
          <a:prstGeom prst="rect">
            <a:avLst/>
          </a:prstGeom>
          <a:noFill/>
          <a:ln/>
        </p:spPr>
        <p:txBody>
          <a:bodyPr wrap="square" lIns="0" tIns="0" rIns="0" bIns="0" rtlCol="0" anchor="ctr"/>
          <a:lstStyle/>
          <a:p>
            <a:pPr indent="0" marL="0">
              <a:buNone/>
            </a:pPr>
            <a:r>
              <a:rPr lang="en-US" sz="3300" b="1" dirty="0">
                <a:solidFill>
                  <a:srgbClr val="2B2340"/>
                </a:solidFill>
                <a:latin typeface="Cambria" pitchFamily="34" charset="0"/>
                <a:ea typeface="Cambria" pitchFamily="34" charset="-122"/>
                <a:cs typeface="Cambria" pitchFamily="34" charset="-120"/>
              </a:rPr>
              <a:t>Overview of the 4 Algorithms</a:t>
            </a:r>
            <a:endParaRPr lang="en-US" sz="3300" dirty="0"/>
          </a:p>
        </p:txBody>
      </p:sp>
      <p:sp>
        <p:nvSpPr>
          <p:cNvPr id="4" name="Shape 2"/>
          <p:cNvSpPr/>
          <p:nvPr/>
        </p:nvSpPr>
        <p:spPr>
          <a:xfrm flipH="1" flipV="1">
            <a:off x="6080760" y="3977640"/>
            <a:ext cx="-2651760" cy="-1417320"/>
          </a:xfrm>
          <a:prstGeom prst="line">
            <a:avLst/>
          </a:prstGeom>
          <a:noFill/>
          <a:ln w="25400">
            <a:solidFill>
              <a:srgbClr val="CFC9DA"/>
            </a:solidFill>
            <a:prstDash val="solid"/>
          </a:ln>
        </p:spPr>
      </p:sp>
      <p:sp>
        <p:nvSpPr>
          <p:cNvPr id="5" name="Shape 3"/>
          <p:cNvSpPr/>
          <p:nvPr/>
        </p:nvSpPr>
        <p:spPr>
          <a:xfrm flipV="1">
            <a:off x="6080760" y="3977640"/>
            <a:ext cx="2651760" cy="-1417320"/>
          </a:xfrm>
          <a:prstGeom prst="line">
            <a:avLst/>
          </a:prstGeom>
          <a:noFill/>
          <a:ln w="25400">
            <a:solidFill>
              <a:srgbClr val="CFC9DA"/>
            </a:solidFill>
            <a:prstDash val="solid"/>
          </a:ln>
        </p:spPr>
      </p:sp>
      <p:sp>
        <p:nvSpPr>
          <p:cNvPr id="6" name="Shape 4"/>
          <p:cNvSpPr/>
          <p:nvPr/>
        </p:nvSpPr>
        <p:spPr>
          <a:xfrm flipH="1">
            <a:off x="6080760" y="3977640"/>
            <a:ext cx="-2651760" cy="1417320"/>
          </a:xfrm>
          <a:prstGeom prst="line">
            <a:avLst/>
          </a:prstGeom>
          <a:noFill/>
          <a:ln w="25400">
            <a:solidFill>
              <a:srgbClr val="CFC9DA"/>
            </a:solidFill>
            <a:prstDash val="solid"/>
          </a:ln>
        </p:spPr>
      </p:sp>
      <p:sp>
        <p:nvSpPr>
          <p:cNvPr id="7" name="Shape 5"/>
          <p:cNvSpPr/>
          <p:nvPr/>
        </p:nvSpPr>
        <p:spPr>
          <a:xfrm>
            <a:off x="6080760" y="3977640"/>
            <a:ext cx="2651760" cy="1417320"/>
          </a:xfrm>
          <a:prstGeom prst="line">
            <a:avLst/>
          </a:prstGeom>
          <a:noFill/>
          <a:ln w="25400">
            <a:solidFill>
              <a:srgbClr val="CFC9DA"/>
            </a:solidFill>
            <a:prstDash val="solid"/>
          </a:ln>
        </p:spPr>
      </p:sp>
      <p:sp>
        <p:nvSpPr>
          <p:cNvPr id="8" name="Shape 6"/>
          <p:cNvSpPr/>
          <p:nvPr/>
        </p:nvSpPr>
        <p:spPr>
          <a:xfrm>
            <a:off x="5212080" y="3108960"/>
            <a:ext cx="1737360" cy="1737360"/>
          </a:xfrm>
          <a:prstGeom prst="ellipse">
            <a:avLst/>
          </a:prstGeom>
          <a:solidFill>
            <a:srgbClr val="2B2340"/>
          </a:solidFill>
          <a:ln/>
          <a:effectLst>
            <a:outerShdw sx="100000" sy="100000" kx="0" ky="0" algn="bl" rotWithShape="0" blurRad="152400" dist="50800" dir="5400000">
              <a:srgbClr val="1A1A2E">
                <a:alpha val="30000"/>
              </a:srgbClr>
            </a:outerShdw>
          </a:effectLst>
        </p:spPr>
      </p:sp>
      <p:sp>
        <p:nvSpPr>
          <p:cNvPr id="9" name="Text 7"/>
          <p:cNvSpPr txBox="1"/>
          <p:nvPr/>
        </p:nvSpPr>
        <p:spPr>
          <a:xfrm>
            <a:off x="5212080" y="3108960"/>
            <a:ext cx="1737360" cy="173736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a:p>
            <a:pPr algn="ctr" indent="0" marL="0">
              <a:buNone/>
            </a:pPr>
            <a:r>
              <a:rPr lang="en-US" sz="2000" b="1" dirty="0">
                <a:solidFill>
                  <a:srgbClr val="FFFFFF"/>
                </a:solidFill>
                <a:latin typeface="Cambria" pitchFamily="34" charset="0"/>
                <a:ea typeface="Cambria" pitchFamily="34" charset="-122"/>
                <a:cs typeface="Cambria" pitchFamily="34" charset="-120"/>
              </a:rPr>
              <a:t>MODELS</a:t>
            </a:r>
            <a:endParaRPr lang="en-US" sz="2000" dirty="0"/>
          </a:p>
        </p:txBody>
      </p:sp>
      <p:sp>
        <p:nvSpPr>
          <p:cNvPr id="10" name="Shape 8"/>
          <p:cNvSpPr/>
          <p:nvPr/>
        </p:nvSpPr>
        <p:spPr>
          <a:xfrm>
            <a:off x="2903220" y="2034540"/>
            <a:ext cx="1051560" cy="1051560"/>
          </a:xfrm>
          <a:prstGeom prst="ellipse">
            <a:avLst/>
          </a:prstGeom>
          <a:solidFill>
            <a:srgbClr val="E8552C"/>
          </a:solidFill>
          <a:ln/>
          <a:effectLst>
            <a:outerShdw sx="100000" sy="100000" kx="0" ky="0" algn="bl" rotWithShape="0" blurRad="127000" dist="38100" dir="5400000">
              <a:srgbClr val="1A1A2E">
                <a:alpha val="25000"/>
              </a:srgbClr>
            </a:outerShdw>
          </a:effectLst>
        </p:spPr>
      </p:sp>
      <p:pic>
        <p:nvPicPr>
          <p:cNvPr id="11" name="Image 0" descr="/home/claude/ecg_deck/icon_cnn.png">    </p:cNvPr>
          <p:cNvPicPr>
            <a:picLocks noChangeAspect="1"/>
          </p:cNvPicPr>
          <p:nvPr/>
        </p:nvPicPr>
        <p:blipFill>
          <a:blip r:embed="rId1"/>
          <a:stretch>
            <a:fillRect/>
          </a:stretch>
        </p:blipFill>
        <p:spPr>
          <a:xfrm>
            <a:off x="3166110" y="2297430"/>
            <a:ext cx="525780" cy="525780"/>
          </a:xfrm>
          <a:prstGeom prst="rect">
            <a:avLst/>
          </a:prstGeom>
        </p:spPr>
      </p:pic>
      <p:sp>
        <p:nvSpPr>
          <p:cNvPr id="12" name="Text 9"/>
          <p:cNvSpPr txBox="1"/>
          <p:nvPr/>
        </p:nvSpPr>
        <p:spPr>
          <a:xfrm>
            <a:off x="2148840" y="3163824"/>
            <a:ext cx="2560320" cy="365760"/>
          </a:xfrm>
          <a:prstGeom prst="rect">
            <a:avLst/>
          </a:prstGeom>
          <a:noFill/>
          <a:ln/>
        </p:spPr>
        <p:txBody>
          <a:bodyPr wrap="square" lIns="0" tIns="0" rIns="0" bIns="0" rtlCol="0" anchor="ctr"/>
          <a:lstStyle/>
          <a:p>
            <a:pPr algn="ctr" indent="0" marL="0">
              <a:buNone/>
            </a:pPr>
            <a:r>
              <a:rPr lang="en-US" sz="1700" b="1" dirty="0">
                <a:solidFill>
                  <a:srgbClr val="2B2340"/>
                </a:solidFill>
                <a:latin typeface="Cambria" pitchFamily="34" charset="0"/>
                <a:ea typeface="Cambria" pitchFamily="34" charset="-122"/>
                <a:cs typeface="Cambria" pitchFamily="34" charset="-120"/>
              </a:rPr>
              <a:t>1D-CNN</a:t>
            </a:r>
            <a:endParaRPr lang="en-US" sz="1700" dirty="0"/>
          </a:p>
        </p:txBody>
      </p:sp>
      <p:sp>
        <p:nvSpPr>
          <p:cNvPr id="13" name="Text 10"/>
          <p:cNvSpPr txBox="1"/>
          <p:nvPr/>
        </p:nvSpPr>
        <p:spPr>
          <a:xfrm>
            <a:off x="2148840" y="3502152"/>
            <a:ext cx="2560320" cy="292608"/>
          </a:xfrm>
          <a:prstGeom prst="rect">
            <a:avLst/>
          </a:prstGeom>
          <a:noFill/>
          <a:ln/>
        </p:spPr>
        <p:txBody>
          <a:bodyPr wrap="square" lIns="0" tIns="0" rIns="0" bIns="0" rtlCol="0" anchor="ctr"/>
          <a:lstStyle/>
          <a:p>
            <a:pPr algn="ctr" indent="0" marL="0">
              <a:buNone/>
            </a:pPr>
            <a:r>
              <a:rPr lang="en-US" sz="1300" i="1" dirty="0">
                <a:solidFill>
                  <a:srgbClr val="6E6879"/>
                </a:solidFill>
                <a:latin typeface="Calibri" pitchFamily="34" charset="0"/>
                <a:ea typeface="Calibri" pitchFamily="34" charset="-122"/>
                <a:cs typeface="Calibri" pitchFamily="34" charset="-120"/>
              </a:rPr>
              <a:t>Shape detection</a:t>
            </a:r>
            <a:endParaRPr lang="en-US" sz="1300" dirty="0"/>
          </a:p>
        </p:txBody>
      </p:sp>
      <p:sp>
        <p:nvSpPr>
          <p:cNvPr id="14" name="Shape 11"/>
          <p:cNvSpPr/>
          <p:nvPr/>
        </p:nvSpPr>
        <p:spPr>
          <a:xfrm>
            <a:off x="8206740" y="2034540"/>
            <a:ext cx="1051560" cy="1051560"/>
          </a:xfrm>
          <a:prstGeom prst="ellipse">
            <a:avLst/>
          </a:prstGeom>
          <a:solidFill>
            <a:srgbClr val="128C7E"/>
          </a:solidFill>
          <a:ln/>
          <a:effectLst>
            <a:outerShdw sx="100000" sy="100000" kx="0" ky="0" algn="bl" rotWithShape="0" blurRad="127000" dist="38100" dir="5400000">
              <a:srgbClr val="1A1A2E">
                <a:alpha val="25000"/>
              </a:srgbClr>
            </a:outerShdw>
          </a:effectLst>
        </p:spPr>
      </p:sp>
      <p:pic>
        <p:nvPicPr>
          <p:cNvPr id="15" name="Image 1" descr="/home/claude/ecg_deck/icon_lstm.png">    </p:cNvPr>
          <p:cNvPicPr>
            <a:picLocks noChangeAspect="1"/>
          </p:cNvPicPr>
          <p:nvPr/>
        </p:nvPicPr>
        <p:blipFill>
          <a:blip r:embed="rId2"/>
          <a:stretch>
            <a:fillRect/>
          </a:stretch>
        </p:blipFill>
        <p:spPr>
          <a:xfrm>
            <a:off x="8469630" y="2297430"/>
            <a:ext cx="525780" cy="525780"/>
          </a:xfrm>
          <a:prstGeom prst="rect">
            <a:avLst/>
          </a:prstGeom>
        </p:spPr>
      </p:pic>
      <p:sp>
        <p:nvSpPr>
          <p:cNvPr id="16" name="Text 12"/>
          <p:cNvSpPr txBox="1"/>
          <p:nvPr/>
        </p:nvSpPr>
        <p:spPr>
          <a:xfrm>
            <a:off x="7452360" y="3163824"/>
            <a:ext cx="2560320" cy="365760"/>
          </a:xfrm>
          <a:prstGeom prst="rect">
            <a:avLst/>
          </a:prstGeom>
          <a:noFill/>
          <a:ln/>
        </p:spPr>
        <p:txBody>
          <a:bodyPr wrap="square" lIns="0" tIns="0" rIns="0" bIns="0" rtlCol="0" anchor="ctr"/>
          <a:lstStyle/>
          <a:p>
            <a:pPr algn="ctr" indent="0" marL="0">
              <a:buNone/>
            </a:pPr>
            <a:r>
              <a:rPr lang="en-US" sz="1700" b="1" dirty="0">
                <a:solidFill>
                  <a:srgbClr val="2B2340"/>
                </a:solidFill>
                <a:latin typeface="Cambria" pitchFamily="34" charset="0"/>
                <a:ea typeface="Cambria" pitchFamily="34" charset="-122"/>
                <a:cs typeface="Cambria" pitchFamily="34" charset="-120"/>
              </a:rPr>
              <a:t>LSTM</a:t>
            </a:r>
            <a:endParaRPr lang="en-US" sz="1700" dirty="0"/>
          </a:p>
        </p:txBody>
      </p:sp>
      <p:sp>
        <p:nvSpPr>
          <p:cNvPr id="17" name="Text 13"/>
          <p:cNvSpPr txBox="1"/>
          <p:nvPr/>
        </p:nvSpPr>
        <p:spPr>
          <a:xfrm>
            <a:off x="7452360" y="3502152"/>
            <a:ext cx="2560320" cy="292608"/>
          </a:xfrm>
          <a:prstGeom prst="rect">
            <a:avLst/>
          </a:prstGeom>
          <a:noFill/>
          <a:ln/>
        </p:spPr>
        <p:txBody>
          <a:bodyPr wrap="square" lIns="0" tIns="0" rIns="0" bIns="0" rtlCol="0" anchor="ctr"/>
          <a:lstStyle/>
          <a:p>
            <a:pPr algn="ctr" indent="0" marL="0">
              <a:buNone/>
            </a:pPr>
            <a:r>
              <a:rPr lang="en-US" sz="1300" i="1" dirty="0">
                <a:solidFill>
                  <a:srgbClr val="6E6879"/>
                </a:solidFill>
                <a:latin typeface="Calibri" pitchFamily="34" charset="0"/>
                <a:ea typeface="Calibri" pitchFamily="34" charset="-122"/>
                <a:cs typeface="Calibri" pitchFamily="34" charset="-120"/>
              </a:rPr>
              <a:t>Sequential memory</a:t>
            </a:r>
            <a:endParaRPr lang="en-US" sz="1300" dirty="0"/>
          </a:p>
        </p:txBody>
      </p:sp>
      <p:sp>
        <p:nvSpPr>
          <p:cNvPr id="18" name="Shape 14"/>
          <p:cNvSpPr/>
          <p:nvPr/>
        </p:nvSpPr>
        <p:spPr>
          <a:xfrm>
            <a:off x="2903220" y="4869180"/>
            <a:ext cx="1051560" cy="1051560"/>
          </a:xfrm>
          <a:prstGeom prst="ellipse">
            <a:avLst/>
          </a:prstGeom>
          <a:solidFill>
            <a:srgbClr val="E8A72C"/>
          </a:solidFill>
          <a:ln/>
          <a:effectLst>
            <a:outerShdw sx="100000" sy="100000" kx="0" ky="0" algn="bl" rotWithShape="0" blurRad="127000" dist="38100" dir="5400000">
              <a:srgbClr val="1A1A2E">
                <a:alpha val="25000"/>
              </a:srgbClr>
            </a:outerShdw>
          </a:effectLst>
        </p:spPr>
      </p:sp>
      <p:pic>
        <p:nvPicPr>
          <p:cNvPr id="19" name="Image 2" descr="/home/claude/ecg_deck/icon_gru.png">    </p:cNvPr>
          <p:cNvPicPr>
            <a:picLocks noChangeAspect="1"/>
          </p:cNvPicPr>
          <p:nvPr/>
        </p:nvPicPr>
        <p:blipFill>
          <a:blip r:embed="rId3"/>
          <a:stretch>
            <a:fillRect/>
          </a:stretch>
        </p:blipFill>
        <p:spPr>
          <a:xfrm>
            <a:off x="3166110" y="5132070"/>
            <a:ext cx="525780" cy="525780"/>
          </a:xfrm>
          <a:prstGeom prst="rect">
            <a:avLst/>
          </a:prstGeom>
        </p:spPr>
      </p:pic>
      <p:sp>
        <p:nvSpPr>
          <p:cNvPr id="20" name="Text 15"/>
          <p:cNvSpPr txBox="1"/>
          <p:nvPr/>
        </p:nvSpPr>
        <p:spPr>
          <a:xfrm>
            <a:off x="2148840" y="5998464"/>
            <a:ext cx="2560320" cy="365760"/>
          </a:xfrm>
          <a:prstGeom prst="rect">
            <a:avLst/>
          </a:prstGeom>
          <a:noFill/>
          <a:ln/>
        </p:spPr>
        <p:txBody>
          <a:bodyPr wrap="square" lIns="0" tIns="0" rIns="0" bIns="0" rtlCol="0" anchor="ctr"/>
          <a:lstStyle/>
          <a:p>
            <a:pPr algn="ctr" indent="0" marL="0">
              <a:buNone/>
            </a:pPr>
            <a:r>
              <a:rPr lang="en-US" sz="1700" b="1" dirty="0">
                <a:solidFill>
                  <a:srgbClr val="2B2340"/>
                </a:solidFill>
                <a:latin typeface="Cambria" pitchFamily="34" charset="0"/>
                <a:ea typeface="Cambria" pitchFamily="34" charset="-122"/>
                <a:cs typeface="Cambria" pitchFamily="34" charset="-120"/>
              </a:rPr>
              <a:t>GRU</a:t>
            </a:r>
            <a:endParaRPr lang="en-US" sz="1700" dirty="0"/>
          </a:p>
        </p:txBody>
      </p:sp>
      <p:sp>
        <p:nvSpPr>
          <p:cNvPr id="21" name="Text 16"/>
          <p:cNvSpPr txBox="1"/>
          <p:nvPr/>
        </p:nvSpPr>
        <p:spPr>
          <a:xfrm>
            <a:off x="2148840" y="6336792"/>
            <a:ext cx="2560320" cy="292608"/>
          </a:xfrm>
          <a:prstGeom prst="rect">
            <a:avLst/>
          </a:prstGeom>
          <a:noFill/>
          <a:ln/>
        </p:spPr>
        <p:txBody>
          <a:bodyPr wrap="square" lIns="0" tIns="0" rIns="0" bIns="0" rtlCol="0" anchor="ctr"/>
          <a:lstStyle/>
          <a:p>
            <a:pPr algn="ctr" indent="0" marL="0">
              <a:buNone/>
            </a:pPr>
            <a:r>
              <a:rPr lang="en-US" sz="1300" i="1" dirty="0">
                <a:solidFill>
                  <a:srgbClr val="6E6879"/>
                </a:solidFill>
                <a:latin typeface="Calibri" pitchFamily="34" charset="0"/>
                <a:ea typeface="Calibri" pitchFamily="34" charset="-122"/>
                <a:cs typeface="Calibri" pitchFamily="34" charset="-120"/>
              </a:rPr>
              <a:t>Lightweight memory</a:t>
            </a:r>
            <a:endParaRPr lang="en-US" sz="1300" dirty="0"/>
          </a:p>
        </p:txBody>
      </p:sp>
      <p:sp>
        <p:nvSpPr>
          <p:cNvPr id="22" name="Shape 17"/>
          <p:cNvSpPr/>
          <p:nvPr/>
        </p:nvSpPr>
        <p:spPr>
          <a:xfrm>
            <a:off x="8206740" y="4869180"/>
            <a:ext cx="1051560" cy="1051560"/>
          </a:xfrm>
          <a:prstGeom prst="ellipse">
            <a:avLst/>
          </a:prstGeom>
          <a:solidFill>
            <a:srgbClr val="5B2C91"/>
          </a:solidFill>
          <a:ln/>
          <a:effectLst>
            <a:outerShdw sx="100000" sy="100000" kx="0" ky="0" algn="bl" rotWithShape="0" blurRad="127000" dist="38100" dir="5400000">
              <a:srgbClr val="1A1A2E">
                <a:alpha val="25000"/>
              </a:srgbClr>
            </a:outerShdw>
          </a:effectLst>
        </p:spPr>
      </p:sp>
      <p:pic>
        <p:nvPicPr>
          <p:cNvPr id="23" name="Image 3" descr="/home/claude/ecg_deck/icon_transformer.png">    </p:cNvPr>
          <p:cNvPicPr>
            <a:picLocks noChangeAspect="1"/>
          </p:cNvPicPr>
          <p:nvPr/>
        </p:nvPicPr>
        <p:blipFill>
          <a:blip r:embed="rId4"/>
          <a:stretch>
            <a:fillRect/>
          </a:stretch>
        </p:blipFill>
        <p:spPr>
          <a:xfrm>
            <a:off x="8469630" y="5132070"/>
            <a:ext cx="525780" cy="525780"/>
          </a:xfrm>
          <a:prstGeom prst="rect">
            <a:avLst/>
          </a:prstGeom>
        </p:spPr>
      </p:pic>
      <p:sp>
        <p:nvSpPr>
          <p:cNvPr id="24" name="Text 18"/>
          <p:cNvSpPr txBox="1"/>
          <p:nvPr/>
        </p:nvSpPr>
        <p:spPr>
          <a:xfrm>
            <a:off x="7452360" y="5998464"/>
            <a:ext cx="2560320" cy="365760"/>
          </a:xfrm>
          <a:prstGeom prst="rect">
            <a:avLst/>
          </a:prstGeom>
          <a:noFill/>
          <a:ln/>
        </p:spPr>
        <p:txBody>
          <a:bodyPr wrap="square" lIns="0" tIns="0" rIns="0" bIns="0" rtlCol="0" anchor="ctr"/>
          <a:lstStyle/>
          <a:p>
            <a:pPr algn="ctr" indent="0" marL="0">
              <a:buNone/>
            </a:pPr>
            <a:r>
              <a:rPr lang="en-US" sz="1700" b="1" dirty="0">
                <a:solidFill>
                  <a:srgbClr val="2B2340"/>
                </a:solidFill>
                <a:latin typeface="Cambria" pitchFamily="34" charset="0"/>
                <a:ea typeface="Cambria" pitchFamily="34" charset="-122"/>
                <a:cs typeface="Cambria" pitchFamily="34" charset="-120"/>
              </a:rPr>
              <a:t>Transformer</a:t>
            </a:r>
            <a:endParaRPr lang="en-US" sz="1700" dirty="0"/>
          </a:p>
        </p:txBody>
      </p:sp>
      <p:sp>
        <p:nvSpPr>
          <p:cNvPr id="25" name="Text 19"/>
          <p:cNvSpPr txBox="1"/>
          <p:nvPr/>
        </p:nvSpPr>
        <p:spPr>
          <a:xfrm>
            <a:off x="7452360" y="6336792"/>
            <a:ext cx="2560320" cy="292608"/>
          </a:xfrm>
          <a:prstGeom prst="rect">
            <a:avLst/>
          </a:prstGeom>
          <a:noFill/>
          <a:ln/>
        </p:spPr>
        <p:txBody>
          <a:bodyPr wrap="square" lIns="0" tIns="0" rIns="0" bIns="0" rtlCol="0" anchor="ctr"/>
          <a:lstStyle/>
          <a:p>
            <a:pPr algn="ctr" indent="0" marL="0">
              <a:buNone/>
            </a:pPr>
            <a:r>
              <a:rPr lang="en-US" sz="1300" i="1" dirty="0">
                <a:solidFill>
                  <a:srgbClr val="6E6879"/>
                </a:solidFill>
                <a:latin typeface="Calibri" pitchFamily="34" charset="0"/>
                <a:ea typeface="Calibri" pitchFamily="34" charset="-122"/>
                <a:cs typeface="Calibri" pitchFamily="34" charset="-120"/>
              </a:rPr>
              <a:t>Self-attention</a:t>
            </a:r>
            <a:endParaRPr lang="en-US" sz="1300" dirty="0"/>
          </a:p>
        </p:txBody>
      </p:sp>
      <p:sp>
        <p:nvSpPr>
          <p:cNvPr id="26" name="Text 20"/>
          <p:cNvSpPr txBox="1"/>
          <p:nvPr/>
        </p:nvSpPr>
        <p:spPr>
          <a:xfrm>
            <a:off x="11368735" y="6355080"/>
            <a:ext cx="548640" cy="274320"/>
          </a:xfrm>
          <a:prstGeom prst="rect">
            <a:avLst/>
          </a:prstGeom>
          <a:noFill/>
          <a:ln/>
        </p:spPr>
        <p:txBody>
          <a:bodyPr wrap="square" lIns="0" tIns="0" rIns="0" bIns="0" rtlCol="0" anchor="ctr"/>
          <a:lstStyle/>
          <a:p>
            <a:pPr algn="r" indent="0" marL="0">
              <a:buNone/>
            </a:pPr>
            <a:r>
              <a:rPr lang="en-US" sz="1100" dirty="0">
                <a:solidFill>
                  <a:srgbClr val="6E6879"/>
                </a:solidFill>
                <a:latin typeface="Calibri" pitchFamily="34" charset="0"/>
                <a:ea typeface="Calibri" pitchFamily="34" charset="-122"/>
                <a:cs typeface="Calibri"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AFC"/>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65760"/>
          </a:xfrm>
          <a:prstGeom prst="rect">
            <a:avLst/>
          </a:prstGeom>
          <a:noFill/>
          <a:ln/>
        </p:spPr>
        <p:txBody>
          <a:bodyPr wrap="square" lIns="0" tIns="0" rIns="0" bIns="0" rtlCol="0" anchor="ctr"/>
          <a:lstStyle/>
          <a:p>
            <a:pPr indent="0" marL="0">
              <a:buNone/>
            </a:pPr>
            <a:r>
              <a:rPr lang="en-US" sz="1400" b="1" spc="200" kern="0" dirty="0">
                <a:solidFill>
                  <a:srgbClr val="E8552C"/>
                </a:solidFill>
                <a:latin typeface="Calibri" pitchFamily="34" charset="0"/>
                <a:ea typeface="Calibri" pitchFamily="34" charset="-122"/>
                <a:cs typeface="Calibri" pitchFamily="34" charset="-120"/>
              </a:rPr>
              <a:t>ALGORITHM 1 OF 4 — CONCEPT</a:t>
            </a:r>
            <a:endParaRPr lang="en-US" sz="14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2B2340"/>
                </a:solidFill>
                <a:latin typeface="Cambria" pitchFamily="34" charset="0"/>
                <a:ea typeface="Cambria" pitchFamily="34" charset="-122"/>
                <a:cs typeface="Cambria" pitchFamily="34" charset="-120"/>
              </a:rPr>
              <a:t>1D Convolutional Neural Network (1D-CNN)</a:t>
            </a:r>
            <a:endParaRPr lang="en-US" sz="3000" dirty="0"/>
          </a:p>
        </p:txBody>
      </p:sp>
      <p:sp>
        <p:nvSpPr>
          <p:cNvPr id="4" name="Shape 2"/>
          <p:cNvSpPr/>
          <p:nvPr/>
        </p:nvSpPr>
        <p:spPr>
          <a:xfrm>
            <a:off x="8321040" y="2941305"/>
            <a:ext cx="3566160" cy="1706910"/>
          </a:xfrm>
          <a:prstGeom prst="roundRect">
            <a:avLst>
              <a:gd name="adj" fmla="val 6428"/>
            </a:avLst>
          </a:prstGeom>
          <a:solidFill>
            <a:srgbClr val="FFFFFF"/>
          </a:solidFill>
          <a:ln w="15875">
            <a:solidFill>
              <a:srgbClr val="E7E1F0"/>
            </a:solidFill>
            <a:prstDash val="solid"/>
          </a:ln>
          <a:effectLst>
            <a:outerShdw sx="100000" sy="100000" kx="0" ky="0" algn="bl" rotWithShape="0" blurRad="152400" dist="38100" dir="5400000">
              <a:srgbClr val="1A1A2E">
                <a:alpha val="16000"/>
              </a:srgbClr>
            </a:outerShdw>
          </a:effectLst>
        </p:spPr>
      </p:sp>
      <p:sp>
        <p:nvSpPr>
          <p:cNvPr id="5" name="Shape 3"/>
          <p:cNvSpPr/>
          <p:nvPr/>
        </p:nvSpPr>
        <p:spPr>
          <a:xfrm>
            <a:off x="8321040" y="2941305"/>
            <a:ext cx="3566160" cy="82296"/>
          </a:xfrm>
          <a:prstGeom prst="rect">
            <a:avLst/>
          </a:prstGeom>
          <a:solidFill>
            <a:srgbClr val="E8552C"/>
          </a:solidFill>
          <a:ln/>
        </p:spPr>
      </p:sp>
      <p:pic>
        <p:nvPicPr>
          <p:cNvPr id="6" name="Image 0" descr="/home/claude/ecg_deck/diagram_cnn.png">    </p:cNvPr>
          <p:cNvPicPr>
            <a:picLocks noChangeAspect="1"/>
          </p:cNvPicPr>
          <p:nvPr/>
        </p:nvPicPr>
        <p:blipFill>
          <a:blip r:embed="rId1"/>
          <a:stretch>
            <a:fillRect/>
          </a:stretch>
        </p:blipFill>
        <p:spPr>
          <a:xfrm>
            <a:off x="8595360" y="3215625"/>
            <a:ext cx="3017520" cy="1158270"/>
          </a:xfrm>
          <a:prstGeom prst="rect">
            <a:avLst/>
          </a:prstGeom>
        </p:spPr>
      </p:pic>
      <p:sp>
        <p:nvSpPr>
          <p:cNvPr id="7" name="Shape 4"/>
          <p:cNvSpPr/>
          <p:nvPr/>
        </p:nvSpPr>
        <p:spPr>
          <a:xfrm>
            <a:off x="548640" y="1737360"/>
            <a:ext cx="64008" cy="960120"/>
          </a:xfrm>
          <a:prstGeom prst="rect">
            <a:avLst/>
          </a:prstGeom>
          <a:solidFill>
            <a:srgbClr val="E8552C"/>
          </a:solidFill>
          <a:ln/>
        </p:spPr>
      </p:sp>
      <p:sp>
        <p:nvSpPr>
          <p:cNvPr id="8" name="Text 5"/>
          <p:cNvSpPr txBox="1"/>
          <p:nvPr/>
        </p:nvSpPr>
        <p:spPr>
          <a:xfrm>
            <a:off x="804672" y="1673352"/>
            <a:ext cx="7379208" cy="292608"/>
          </a:xfrm>
          <a:prstGeom prst="rect">
            <a:avLst/>
          </a:prstGeom>
          <a:noFill/>
          <a:ln/>
        </p:spPr>
        <p:txBody>
          <a:bodyPr wrap="square" lIns="0" tIns="0" rIns="0" bIns="0" rtlCol="0" anchor="ctr"/>
          <a:lstStyle/>
          <a:p>
            <a:pPr indent="0" marL="0">
              <a:buNone/>
            </a:pPr>
            <a:r>
              <a:rPr lang="en-US" sz="1400" b="1" spc="100" kern="0" dirty="0">
                <a:solidFill>
                  <a:srgbClr val="E8552C"/>
                </a:solidFill>
                <a:latin typeface="Calibri" pitchFamily="34" charset="0"/>
                <a:ea typeface="Calibri" pitchFamily="34" charset="-122"/>
                <a:cs typeface="Calibri" pitchFamily="34" charset="-120"/>
              </a:rPr>
              <a:t>BASIC IDEA</a:t>
            </a:r>
            <a:endParaRPr lang="en-US" sz="1400" dirty="0"/>
          </a:p>
        </p:txBody>
      </p:sp>
      <p:sp>
        <p:nvSpPr>
          <p:cNvPr id="9" name="Text 6"/>
          <p:cNvSpPr txBox="1"/>
          <p:nvPr/>
        </p:nvSpPr>
        <p:spPr>
          <a:xfrm>
            <a:off x="804672" y="2011680"/>
            <a:ext cx="7379208" cy="1005840"/>
          </a:xfrm>
          <a:prstGeom prst="rect">
            <a:avLst/>
          </a:prstGeom>
          <a:noFill/>
          <a:ln/>
        </p:spPr>
        <p:txBody>
          <a:bodyPr wrap="square" lIns="0" tIns="0" rIns="0" bIns="0" rtlCol="0" anchor="ctr"/>
          <a:lstStyle/>
          <a:p>
            <a:pPr indent="0" marL="0">
              <a:lnSpc>
                <a:spcPts val="2300"/>
              </a:lnSpc>
              <a:buNone/>
            </a:pPr>
            <a:r>
              <a:rPr lang="en-US" sz="1800" dirty="0">
                <a:solidFill>
                  <a:srgbClr val="2B2340"/>
                </a:solidFill>
                <a:latin typeface="Calibri" pitchFamily="34" charset="0"/>
                <a:ea typeface="Calibri" pitchFamily="34" charset="-122"/>
                <a:cs typeface="Calibri" pitchFamily="34" charset="-120"/>
              </a:rPr>
              <a:t>Slides a small filter across the ECG signal to pick up local wave shapes — the same idea an image CNN uses to detect edges, just in one dimension across time instead of two across pixels.</a:t>
            </a:r>
            <a:endParaRPr lang="en-US" sz="1800" dirty="0"/>
          </a:p>
        </p:txBody>
      </p:sp>
      <p:sp>
        <p:nvSpPr>
          <p:cNvPr id="10" name="Shape 7"/>
          <p:cNvSpPr/>
          <p:nvPr/>
        </p:nvSpPr>
        <p:spPr>
          <a:xfrm>
            <a:off x="548640" y="3364992"/>
            <a:ext cx="64008" cy="960120"/>
          </a:xfrm>
          <a:prstGeom prst="rect">
            <a:avLst/>
          </a:prstGeom>
          <a:solidFill>
            <a:srgbClr val="E8552C"/>
          </a:solidFill>
          <a:ln/>
        </p:spPr>
      </p:sp>
      <p:sp>
        <p:nvSpPr>
          <p:cNvPr id="11" name="Text 8"/>
          <p:cNvSpPr txBox="1"/>
          <p:nvPr/>
        </p:nvSpPr>
        <p:spPr>
          <a:xfrm>
            <a:off x="804672" y="3300984"/>
            <a:ext cx="7379208" cy="292608"/>
          </a:xfrm>
          <a:prstGeom prst="rect">
            <a:avLst/>
          </a:prstGeom>
          <a:noFill/>
          <a:ln/>
        </p:spPr>
        <p:txBody>
          <a:bodyPr wrap="square" lIns="0" tIns="0" rIns="0" bIns="0" rtlCol="0" anchor="ctr"/>
          <a:lstStyle/>
          <a:p>
            <a:pPr indent="0" marL="0">
              <a:buNone/>
            </a:pPr>
            <a:r>
              <a:rPr lang="en-US" sz="1400" b="1" spc="100" kern="0" dirty="0">
                <a:solidFill>
                  <a:srgbClr val="E8552C"/>
                </a:solidFill>
                <a:latin typeface="Calibri" pitchFamily="34" charset="0"/>
                <a:ea typeface="Calibri" pitchFamily="34" charset="-122"/>
                <a:cs typeface="Calibri" pitchFamily="34" charset="-120"/>
              </a:rPr>
              <a:t>WHY IT FITS THIS DATASET</a:t>
            </a:r>
            <a:endParaRPr lang="en-US" sz="1400" dirty="0"/>
          </a:p>
        </p:txBody>
      </p:sp>
      <p:sp>
        <p:nvSpPr>
          <p:cNvPr id="12" name="Text 9"/>
          <p:cNvSpPr txBox="1"/>
          <p:nvPr/>
        </p:nvSpPr>
        <p:spPr>
          <a:xfrm>
            <a:off x="804672" y="3639312"/>
            <a:ext cx="7379208" cy="1005840"/>
          </a:xfrm>
          <a:prstGeom prst="rect">
            <a:avLst/>
          </a:prstGeom>
          <a:noFill/>
          <a:ln/>
        </p:spPr>
        <p:txBody>
          <a:bodyPr wrap="square" lIns="0" tIns="0" rIns="0" bIns="0" rtlCol="0" anchor="ctr"/>
          <a:lstStyle/>
          <a:p>
            <a:pPr indent="0" marL="0">
              <a:lnSpc>
                <a:spcPts val="2300"/>
              </a:lnSpc>
              <a:buNone/>
            </a:pPr>
            <a:r>
              <a:rPr lang="en-US" sz="1800" dirty="0">
                <a:solidFill>
                  <a:srgbClr val="2B2340"/>
                </a:solidFill>
                <a:latin typeface="Calibri" pitchFamily="34" charset="0"/>
                <a:ea typeface="Calibri" pitchFamily="34" charset="-122"/>
                <a:cs typeface="Calibri" pitchFamily="34" charset="-120"/>
              </a:rPr>
              <a:t>Each heartbeat class differs mainly in the shape of its P-QRS-T wave, so a filter that scans for shape irregularities is looking directly at the feature that separates a Normal beat from a Ventricular or Fusion beat.</a:t>
            </a:r>
            <a:endParaRPr lang="en-US" sz="1800" dirty="0"/>
          </a:p>
        </p:txBody>
      </p:sp>
      <p:sp>
        <p:nvSpPr>
          <p:cNvPr id="13" name="Shape 10"/>
          <p:cNvSpPr/>
          <p:nvPr/>
        </p:nvSpPr>
        <p:spPr>
          <a:xfrm>
            <a:off x="548640" y="4992624"/>
            <a:ext cx="64008" cy="960120"/>
          </a:xfrm>
          <a:prstGeom prst="rect">
            <a:avLst/>
          </a:prstGeom>
          <a:solidFill>
            <a:srgbClr val="E8552C"/>
          </a:solidFill>
          <a:ln/>
        </p:spPr>
      </p:sp>
      <p:sp>
        <p:nvSpPr>
          <p:cNvPr id="14" name="Text 11"/>
          <p:cNvSpPr txBox="1"/>
          <p:nvPr/>
        </p:nvSpPr>
        <p:spPr>
          <a:xfrm>
            <a:off x="804672" y="4928616"/>
            <a:ext cx="7379208" cy="292608"/>
          </a:xfrm>
          <a:prstGeom prst="rect">
            <a:avLst/>
          </a:prstGeom>
          <a:noFill/>
          <a:ln/>
        </p:spPr>
        <p:txBody>
          <a:bodyPr wrap="square" lIns="0" tIns="0" rIns="0" bIns="0" rtlCol="0" anchor="ctr"/>
          <a:lstStyle/>
          <a:p>
            <a:pPr indent="0" marL="0">
              <a:buNone/>
            </a:pPr>
            <a:r>
              <a:rPr lang="en-US" sz="1400" b="1" spc="100" kern="0" dirty="0">
                <a:solidFill>
                  <a:srgbClr val="E8552C"/>
                </a:solidFill>
                <a:latin typeface="Calibri" pitchFamily="34" charset="0"/>
                <a:ea typeface="Calibri" pitchFamily="34" charset="-122"/>
                <a:cs typeface="Calibri" pitchFamily="34" charset="-120"/>
              </a:rPr>
              <a:t>CORE LOGIC</a:t>
            </a:r>
            <a:endParaRPr lang="en-US" sz="1400" dirty="0"/>
          </a:p>
        </p:txBody>
      </p:sp>
      <p:sp>
        <p:nvSpPr>
          <p:cNvPr id="15" name="Text 12"/>
          <p:cNvSpPr txBox="1"/>
          <p:nvPr/>
        </p:nvSpPr>
        <p:spPr>
          <a:xfrm>
            <a:off x="804672" y="5266944"/>
            <a:ext cx="7379208" cy="1005840"/>
          </a:xfrm>
          <a:prstGeom prst="rect">
            <a:avLst/>
          </a:prstGeom>
          <a:noFill/>
          <a:ln/>
        </p:spPr>
        <p:txBody>
          <a:bodyPr wrap="square" lIns="0" tIns="0" rIns="0" bIns="0" rtlCol="0" anchor="ctr"/>
          <a:lstStyle/>
          <a:p>
            <a:pPr indent="0" marL="0">
              <a:lnSpc>
                <a:spcPts val="2300"/>
              </a:lnSpc>
              <a:buNone/>
            </a:pPr>
            <a:r>
              <a:rPr lang="en-US" sz="1800" dirty="0">
                <a:solidFill>
                  <a:srgbClr val="2B2340"/>
                </a:solidFill>
                <a:latin typeface="Calibri" pitchFamily="34" charset="0"/>
                <a:ea typeface="Calibri" pitchFamily="34" charset="-122"/>
                <a:cs typeface="Calibri" pitchFamily="34" charset="-120"/>
              </a:rPr>
              <a:t>Convolution → ReLU → Pooling layers stack to build increasingly abstract shape detectors; the final dense layer maps the learned shape pattern to one of the 5 heartbeat classes.</a:t>
            </a:r>
            <a:endParaRPr lang="en-US" sz="1800" dirty="0"/>
          </a:p>
        </p:txBody>
      </p:sp>
      <p:sp>
        <p:nvSpPr>
          <p:cNvPr id="16" name="Text 13"/>
          <p:cNvSpPr txBox="1"/>
          <p:nvPr/>
        </p:nvSpPr>
        <p:spPr>
          <a:xfrm>
            <a:off x="11368735" y="6355080"/>
            <a:ext cx="548640" cy="274320"/>
          </a:xfrm>
          <a:prstGeom prst="rect">
            <a:avLst/>
          </a:prstGeom>
          <a:noFill/>
          <a:ln/>
        </p:spPr>
        <p:txBody>
          <a:bodyPr wrap="square" lIns="0" tIns="0" rIns="0" bIns="0" rtlCol="0" anchor="ctr"/>
          <a:lstStyle/>
          <a:p>
            <a:pPr algn="r" indent="0" marL="0">
              <a:buNone/>
            </a:pPr>
            <a:r>
              <a:rPr lang="en-US" sz="1100" dirty="0">
                <a:solidFill>
                  <a:srgbClr val="6E6879"/>
                </a:solidFill>
                <a:latin typeface="Calibri" pitchFamily="34" charset="0"/>
                <a:ea typeface="Calibri" pitchFamily="34" charset="-122"/>
                <a:cs typeface="Calibri"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AFC"/>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65760"/>
          </a:xfrm>
          <a:prstGeom prst="rect">
            <a:avLst/>
          </a:prstGeom>
          <a:noFill/>
          <a:ln/>
        </p:spPr>
        <p:txBody>
          <a:bodyPr wrap="square" lIns="0" tIns="0" rIns="0" bIns="0" rtlCol="0" anchor="ctr"/>
          <a:lstStyle/>
          <a:p>
            <a:pPr indent="0" marL="0">
              <a:buNone/>
            </a:pPr>
            <a:r>
              <a:rPr lang="en-US" sz="1400" b="1" spc="200" kern="0" dirty="0">
                <a:solidFill>
                  <a:srgbClr val="E8552C"/>
                </a:solidFill>
                <a:latin typeface="Calibri" pitchFamily="34" charset="0"/>
                <a:ea typeface="Calibri" pitchFamily="34" charset="-122"/>
                <a:cs typeface="Calibri" pitchFamily="34" charset="-120"/>
              </a:rPr>
              <a:t>ALGORITHM 1 OF 4 — THE MATH</a:t>
            </a:r>
            <a:endParaRPr lang="en-US" sz="1400" dirty="0"/>
          </a:p>
        </p:txBody>
      </p:sp>
      <p:sp>
        <p:nvSpPr>
          <p:cNvPr id="3" name="Text 1"/>
          <p:cNvSpPr txBox="1"/>
          <p:nvPr/>
        </p:nvSpPr>
        <p:spPr>
          <a:xfrm>
            <a:off x="548640" y="777240"/>
            <a:ext cx="7863840" cy="685800"/>
          </a:xfrm>
          <a:prstGeom prst="rect">
            <a:avLst/>
          </a:prstGeom>
          <a:noFill/>
          <a:ln/>
        </p:spPr>
        <p:txBody>
          <a:bodyPr wrap="square" lIns="0" tIns="0" rIns="0" bIns="0" rtlCol="0" anchor="ctr"/>
          <a:lstStyle/>
          <a:p>
            <a:pPr indent="0" marL="0">
              <a:buNone/>
            </a:pPr>
            <a:r>
              <a:rPr lang="en-US" sz="2700" b="1" dirty="0">
                <a:solidFill>
                  <a:srgbClr val="2B2340"/>
                </a:solidFill>
                <a:latin typeface="Cambria" pitchFamily="34" charset="0"/>
                <a:ea typeface="Cambria" pitchFamily="34" charset="-122"/>
                <a:cs typeface="Cambria" pitchFamily="34" charset="-120"/>
              </a:rPr>
              <a:t>1D Convolutional Neural Network (1D-CNN)</a:t>
            </a:r>
            <a:endParaRPr lang="en-US" sz="2700" dirty="0"/>
          </a:p>
        </p:txBody>
      </p:sp>
      <p:sp>
        <p:nvSpPr>
          <p:cNvPr id="4" name="Text 2"/>
          <p:cNvSpPr txBox="1"/>
          <p:nvPr/>
        </p:nvSpPr>
        <p:spPr>
          <a:xfrm>
            <a:off x="548640" y="1371600"/>
            <a:ext cx="8229600" cy="320040"/>
          </a:xfrm>
          <a:prstGeom prst="rect">
            <a:avLst/>
          </a:prstGeom>
          <a:noFill/>
          <a:ln/>
        </p:spPr>
        <p:txBody>
          <a:bodyPr wrap="square" lIns="0" tIns="0" rIns="0" bIns="0" rtlCol="0" anchor="ctr"/>
          <a:lstStyle/>
          <a:p>
            <a:pPr indent="0" marL="0">
              <a:buNone/>
            </a:pPr>
            <a:r>
              <a:rPr lang="en-US" sz="1400" i="1" dirty="0">
                <a:solidFill>
                  <a:srgbClr val="6E6879"/>
                </a:solidFill>
                <a:latin typeface="Calibri" pitchFamily="34" charset="0"/>
                <a:ea typeface="Calibri" pitchFamily="34" charset="-122"/>
                <a:cs typeface="Calibri" pitchFamily="34" charset="-120"/>
              </a:rPr>
              <a:t>The equations actually implemented for this model</a:t>
            </a:r>
            <a:endParaRPr lang="en-US" sz="1400" dirty="0"/>
          </a:p>
        </p:txBody>
      </p:sp>
      <p:sp>
        <p:nvSpPr>
          <p:cNvPr id="5" name="Shape 3"/>
          <p:cNvSpPr/>
          <p:nvPr/>
        </p:nvSpPr>
        <p:spPr>
          <a:xfrm>
            <a:off x="9144000" y="669162"/>
            <a:ext cx="3017520" cy="1496316"/>
          </a:xfrm>
          <a:prstGeom prst="roundRect">
            <a:avLst>
              <a:gd name="adj" fmla="val 7333"/>
            </a:avLst>
          </a:prstGeom>
          <a:solidFill>
            <a:srgbClr val="FFFFFF"/>
          </a:solidFill>
          <a:ln w="15875">
            <a:solidFill>
              <a:srgbClr val="E7E1F0"/>
            </a:solidFill>
            <a:prstDash val="solid"/>
          </a:ln>
          <a:effectLst>
            <a:outerShdw sx="100000" sy="100000" kx="0" ky="0" algn="bl" rotWithShape="0" blurRad="152400" dist="38100" dir="5400000">
              <a:srgbClr val="1A1A2E">
                <a:alpha val="16000"/>
              </a:srgbClr>
            </a:outerShdw>
          </a:effectLst>
        </p:spPr>
      </p:sp>
      <p:sp>
        <p:nvSpPr>
          <p:cNvPr id="6" name="Shape 4"/>
          <p:cNvSpPr/>
          <p:nvPr/>
        </p:nvSpPr>
        <p:spPr>
          <a:xfrm>
            <a:off x="9144000" y="669162"/>
            <a:ext cx="3017520" cy="82296"/>
          </a:xfrm>
          <a:prstGeom prst="rect">
            <a:avLst/>
          </a:prstGeom>
          <a:solidFill>
            <a:srgbClr val="E8552C"/>
          </a:solidFill>
          <a:ln/>
        </p:spPr>
      </p:sp>
      <p:pic>
        <p:nvPicPr>
          <p:cNvPr id="7" name="Image 0" descr="/home/claude/ecg_deck/diagram_cnn.png">    </p:cNvPr>
          <p:cNvPicPr>
            <a:picLocks noChangeAspect="1"/>
          </p:cNvPicPr>
          <p:nvPr/>
        </p:nvPicPr>
        <p:blipFill>
          <a:blip r:embed="rId1"/>
          <a:stretch>
            <a:fillRect/>
          </a:stretch>
        </p:blipFill>
        <p:spPr>
          <a:xfrm>
            <a:off x="9418320" y="943482"/>
            <a:ext cx="2468880" cy="947676"/>
          </a:xfrm>
          <a:prstGeom prst="rect">
            <a:avLst/>
          </a:prstGeom>
        </p:spPr>
      </p:pic>
      <p:sp>
        <p:nvSpPr>
          <p:cNvPr id="8" name="Shape 5"/>
          <p:cNvSpPr/>
          <p:nvPr/>
        </p:nvSpPr>
        <p:spPr>
          <a:xfrm>
            <a:off x="548640" y="2752344"/>
            <a:ext cx="64008" cy="621792"/>
          </a:xfrm>
          <a:prstGeom prst="rect">
            <a:avLst/>
          </a:prstGeom>
          <a:solidFill>
            <a:srgbClr val="E8552C"/>
          </a:solidFill>
          <a:ln/>
        </p:spPr>
      </p:sp>
      <p:sp>
        <p:nvSpPr>
          <p:cNvPr id="9" name="Text 6"/>
          <p:cNvSpPr txBox="1"/>
          <p:nvPr/>
        </p:nvSpPr>
        <p:spPr>
          <a:xfrm>
            <a:off x="804672" y="2697480"/>
            <a:ext cx="5120640" cy="731520"/>
          </a:xfrm>
          <a:prstGeom prst="rect">
            <a:avLst/>
          </a:prstGeom>
          <a:noFill/>
          <a:ln/>
        </p:spPr>
        <p:txBody>
          <a:bodyPr wrap="square" lIns="0" tIns="0" rIns="0" bIns="0" rtlCol="0" anchor="ctr"/>
          <a:lstStyle/>
          <a:p>
            <a:pPr indent="0" marL="0">
              <a:buNone/>
            </a:pPr>
            <a:r>
              <a:rPr lang="en-US" sz="2100" b="1" dirty="0">
                <a:solidFill>
                  <a:srgbClr val="2B2340"/>
                </a:solidFill>
                <a:latin typeface="Cambria Math" pitchFamily="34" charset="0"/>
                <a:ea typeface="Cambria Math" pitchFamily="34" charset="-122"/>
                <a:cs typeface="Cambria Math" pitchFamily="34" charset="-120"/>
              </a:rPr>
              <a:t>y</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i</a:t>
            </a:r>
            <a:pPr indent="0" marL="0">
              <a:buNone/>
            </a:pPr>
            <a:r>
              <a:rPr lang="en-US" sz="2100" b="1" dirty="0">
                <a:solidFill>
                  <a:srgbClr val="2B2340"/>
                </a:solidFill>
                <a:latin typeface="Cambria Math" pitchFamily="34" charset="0"/>
                <a:ea typeface="Cambria Math" pitchFamily="34" charset="-122"/>
                <a:cs typeface="Cambria Math" pitchFamily="34" charset="-120"/>
              </a:rPr>
              <a:t> = Σ</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k</a:t>
            </a:r>
            <a:pPr indent="0" marL="0">
              <a:buNone/>
            </a:pPr>
            <a:r>
              <a:rPr lang="en-US" sz="2100" b="1" dirty="0">
                <a:solidFill>
                  <a:srgbClr val="2B2340"/>
                </a:solidFill>
                <a:latin typeface="Cambria Math" pitchFamily="34" charset="0"/>
                <a:ea typeface="Cambria Math" pitchFamily="34" charset="-122"/>
                <a:cs typeface="Cambria Math" pitchFamily="34" charset="-120"/>
              </a:rPr>
              <a:t> ( x</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i+k</a:t>
            </a:r>
            <a:pPr indent="0" marL="0">
              <a:buNone/>
            </a:pPr>
            <a:r>
              <a:rPr lang="en-US" sz="2100" b="1" dirty="0">
                <a:solidFill>
                  <a:srgbClr val="2B2340"/>
                </a:solidFill>
                <a:latin typeface="Cambria Math" pitchFamily="34" charset="0"/>
                <a:ea typeface="Cambria Math" pitchFamily="34" charset="-122"/>
                <a:cs typeface="Cambria Math" pitchFamily="34" charset="-120"/>
              </a:rPr>
              <a:t> · w</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k</a:t>
            </a:r>
            <a:pPr indent="0" marL="0">
              <a:buNone/>
            </a:pPr>
            <a:r>
              <a:rPr lang="en-US" sz="2100" b="1" dirty="0">
                <a:solidFill>
                  <a:srgbClr val="2B2340"/>
                </a:solidFill>
                <a:latin typeface="Cambria Math" pitchFamily="34" charset="0"/>
                <a:ea typeface="Cambria Math" pitchFamily="34" charset="-122"/>
                <a:cs typeface="Cambria Math" pitchFamily="34" charset="-120"/>
              </a:rPr>
              <a:t> ) + b</a:t>
            </a:r>
            <a:endParaRPr lang="en-US" sz="2100" dirty="0"/>
          </a:p>
        </p:txBody>
      </p:sp>
      <p:sp>
        <p:nvSpPr>
          <p:cNvPr id="10" name="Text 7"/>
          <p:cNvSpPr txBox="1"/>
          <p:nvPr/>
        </p:nvSpPr>
        <p:spPr>
          <a:xfrm>
            <a:off x="6126480" y="2697480"/>
            <a:ext cx="5486400" cy="731520"/>
          </a:xfrm>
          <a:prstGeom prst="rect">
            <a:avLst/>
          </a:prstGeom>
          <a:noFill/>
          <a:ln/>
        </p:spPr>
        <p:txBody>
          <a:bodyPr wrap="square" lIns="0" tIns="0" rIns="0" bIns="0" rtlCol="0" anchor="ctr"/>
          <a:lstStyle/>
          <a:p>
            <a:pPr indent="0" marL="0">
              <a:lnSpc>
                <a:spcPts val="2100"/>
              </a:lnSpc>
              <a:buNone/>
            </a:pPr>
            <a:r>
              <a:rPr lang="en-US" sz="1600" dirty="0">
                <a:solidFill>
                  <a:srgbClr val="6E6879"/>
                </a:solidFill>
                <a:latin typeface="Calibri" pitchFamily="34" charset="0"/>
                <a:ea typeface="Calibri" pitchFamily="34" charset="-122"/>
                <a:cs typeface="Calibri" pitchFamily="34" charset="-120"/>
              </a:rPr>
              <a:t>Convolution: the filter slides over the signal, multiplying and summing a small window at each position.</a:t>
            </a:r>
            <a:endParaRPr lang="en-US" sz="1600" dirty="0"/>
          </a:p>
        </p:txBody>
      </p:sp>
      <p:sp>
        <p:nvSpPr>
          <p:cNvPr id="11" name="Shape 8"/>
          <p:cNvSpPr/>
          <p:nvPr/>
        </p:nvSpPr>
        <p:spPr>
          <a:xfrm>
            <a:off x="548640" y="3666744"/>
            <a:ext cx="64008" cy="621792"/>
          </a:xfrm>
          <a:prstGeom prst="rect">
            <a:avLst/>
          </a:prstGeom>
          <a:solidFill>
            <a:srgbClr val="E8552C"/>
          </a:solidFill>
          <a:ln/>
        </p:spPr>
      </p:sp>
      <p:sp>
        <p:nvSpPr>
          <p:cNvPr id="12" name="Text 9"/>
          <p:cNvSpPr txBox="1"/>
          <p:nvPr/>
        </p:nvSpPr>
        <p:spPr>
          <a:xfrm>
            <a:off x="804672" y="3611880"/>
            <a:ext cx="5120640" cy="731520"/>
          </a:xfrm>
          <a:prstGeom prst="rect">
            <a:avLst/>
          </a:prstGeom>
          <a:noFill/>
          <a:ln/>
        </p:spPr>
        <p:txBody>
          <a:bodyPr wrap="square" lIns="0" tIns="0" rIns="0" bIns="0" rtlCol="0" anchor="ctr"/>
          <a:lstStyle/>
          <a:p>
            <a:pPr indent="0" marL="0">
              <a:buNone/>
            </a:pPr>
            <a:r>
              <a:rPr lang="en-US" sz="2100" b="1" dirty="0">
                <a:solidFill>
                  <a:srgbClr val="2B2340"/>
                </a:solidFill>
                <a:latin typeface="Cambria Math" pitchFamily="34" charset="0"/>
                <a:ea typeface="Cambria Math" pitchFamily="34" charset="-122"/>
                <a:cs typeface="Cambria Math" pitchFamily="34" charset="-120"/>
              </a:rPr>
              <a:t>a</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i</a:t>
            </a:r>
            <a:pPr indent="0" marL="0">
              <a:buNone/>
            </a:pPr>
            <a:r>
              <a:rPr lang="en-US" sz="2100" b="1" dirty="0">
                <a:solidFill>
                  <a:srgbClr val="2B2340"/>
                </a:solidFill>
                <a:latin typeface="Cambria Math" pitchFamily="34" charset="0"/>
                <a:ea typeface="Cambria Math" pitchFamily="34" charset="-122"/>
                <a:cs typeface="Cambria Math" pitchFamily="34" charset="-120"/>
              </a:rPr>
              <a:t> = max(0, y</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i</a:t>
            </a:r>
            <a:pPr indent="0" marL="0">
              <a:buNone/>
            </a:pPr>
            <a:r>
              <a:rPr lang="en-US" sz="2100" b="1" dirty="0">
                <a:solidFill>
                  <a:srgbClr val="2B2340"/>
                </a:solidFill>
                <a:latin typeface="Cambria Math" pitchFamily="34" charset="0"/>
                <a:ea typeface="Cambria Math" pitchFamily="34" charset="-122"/>
                <a:cs typeface="Cambria Math" pitchFamily="34" charset="-120"/>
              </a:rPr>
              <a:t>)</a:t>
            </a:r>
            <a:endParaRPr lang="en-US" sz="2100" dirty="0"/>
          </a:p>
        </p:txBody>
      </p:sp>
      <p:sp>
        <p:nvSpPr>
          <p:cNvPr id="13" name="Text 10"/>
          <p:cNvSpPr txBox="1"/>
          <p:nvPr/>
        </p:nvSpPr>
        <p:spPr>
          <a:xfrm>
            <a:off x="6126480" y="3611880"/>
            <a:ext cx="5486400" cy="731520"/>
          </a:xfrm>
          <a:prstGeom prst="rect">
            <a:avLst/>
          </a:prstGeom>
          <a:noFill/>
          <a:ln/>
        </p:spPr>
        <p:txBody>
          <a:bodyPr wrap="square" lIns="0" tIns="0" rIns="0" bIns="0" rtlCol="0" anchor="ctr"/>
          <a:lstStyle/>
          <a:p>
            <a:pPr indent="0" marL="0">
              <a:lnSpc>
                <a:spcPts val="2100"/>
              </a:lnSpc>
              <a:buNone/>
            </a:pPr>
            <a:r>
              <a:rPr lang="en-US" sz="1600" dirty="0">
                <a:solidFill>
                  <a:srgbClr val="6E6879"/>
                </a:solidFill>
                <a:latin typeface="Calibri" pitchFamily="34" charset="0"/>
                <a:ea typeface="Calibri" pitchFamily="34" charset="-122"/>
                <a:cs typeface="Calibri" pitchFamily="34" charset="-120"/>
              </a:rPr>
              <a:t>ReLU activation: negative responses are zeroed out, keeping only the shape features that fired positively.</a:t>
            </a:r>
            <a:endParaRPr lang="en-US" sz="1600" dirty="0"/>
          </a:p>
        </p:txBody>
      </p:sp>
      <p:sp>
        <p:nvSpPr>
          <p:cNvPr id="14" name="Shape 11"/>
          <p:cNvSpPr/>
          <p:nvPr/>
        </p:nvSpPr>
        <p:spPr>
          <a:xfrm>
            <a:off x="548640" y="4581144"/>
            <a:ext cx="64008" cy="621792"/>
          </a:xfrm>
          <a:prstGeom prst="rect">
            <a:avLst/>
          </a:prstGeom>
          <a:solidFill>
            <a:srgbClr val="E8552C"/>
          </a:solidFill>
          <a:ln/>
        </p:spPr>
      </p:sp>
      <p:sp>
        <p:nvSpPr>
          <p:cNvPr id="15" name="Text 12"/>
          <p:cNvSpPr txBox="1"/>
          <p:nvPr/>
        </p:nvSpPr>
        <p:spPr>
          <a:xfrm>
            <a:off x="804672" y="4526280"/>
            <a:ext cx="5120640" cy="731520"/>
          </a:xfrm>
          <a:prstGeom prst="rect">
            <a:avLst/>
          </a:prstGeom>
          <a:noFill/>
          <a:ln/>
        </p:spPr>
        <p:txBody>
          <a:bodyPr wrap="square" lIns="0" tIns="0" rIns="0" bIns="0" rtlCol="0" anchor="ctr"/>
          <a:lstStyle/>
          <a:p>
            <a:pPr indent="0" marL="0">
              <a:buNone/>
            </a:pPr>
            <a:r>
              <a:rPr lang="en-US" sz="2100" b="1" dirty="0">
                <a:solidFill>
                  <a:srgbClr val="2B2340"/>
                </a:solidFill>
                <a:latin typeface="Cambria Math" pitchFamily="34" charset="0"/>
                <a:ea typeface="Cambria Math" pitchFamily="34" charset="-122"/>
                <a:cs typeface="Cambria Math" pitchFamily="34" charset="-120"/>
              </a:rPr>
              <a:t>p</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j</a:t>
            </a:r>
            <a:pPr indent="0" marL="0">
              <a:buNone/>
            </a:pPr>
            <a:r>
              <a:rPr lang="en-US" sz="2100" b="1" dirty="0">
                <a:solidFill>
                  <a:srgbClr val="2B2340"/>
                </a:solidFill>
                <a:latin typeface="Cambria Math" pitchFamily="34" charset="0"/>
                <a:ea typeface="Cambria Math" pitchFamily="34" charset="-122"/>
                <a:cs typeface="Cambria Math" pitchFamily="34" charset="-120"/>
              </a:rPr>
              <a:t> = max(a</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2j</a:t>
            </a:r>
            <a:pPr indent="0" marL="0">
              <a:buNone/>
            </a:pPr>
            <a:r>
              <a:rPr lang="en-US" sz="2100" b="1" dirty="0">
                <a:solidFill>
                  <a:srgbClr val="2B2340"/>
                </a:solidFill>
                <a:latin typeface="Cambria Math" pitchFamily="34" charset="0"/>
                <a:ea typeface="Cambria Math" pitchFamily="34" charset="-122"/>
                <a:cs typeface="Cambria Math" pitchFamily="34" charset="-120"/>
              </a:rPr>
              <a:t>, a</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2j+1</a:t>
            </a:r>
            <a:pPr indent="0" marL="0">
              <a:buNone/>
            </a:pPr>
            <a:r>
              <a:rPr lang="en-US" sz="2100" b="1" dirty="0">
                <a:solidFill>
                  <a:srgbClr val="2B2340"/>
                </a:solidFill>
                <a:latin typeface="Cambria Math" pitchFamily="34" charset="0"/>
                <a:ea typeface="Cambria Math" pitchFamily="34" charset="-122"/>
                <a:cs typeface="Cambria Math" pitchFamily="34" charset="-120"/>
              </a:rPr>
              <a:t>)</a:t>
            </a:r>
            <a:endParaRPr lang="en-US" sz="2100" dirty="0"/>
          </a:p>
        </p:txBody>
      </p:sp>
      <p:sp>
        <p:nvSpPr>
          <p:cNvPr id="16" name="Text 13"/>
          <p:cNvSpPr txBox="1"/>
          <p:nvPr/>
        </p:nvSpPr>
        <p:spPr>
          <a:xfrm>
            <a:off x="6126480" y="4526280"/>
            <a:ext cx="5486400" cy="731520"/>
          </a:xfrm>
          <a:prstGeom prst="rect">
            <a:avLst/>
          </a:prstGeom>
          <a:noFill/>
          <a:ln/>
        </p:spPr>
        <p:txBody>
          <a:bodyPr wrap="square" lIns="0" tIns="0" rIns="0" bIns="0" rtlCol="0" anchor="ctr"/>
          <a:lstStyle/>
          <a:p>
            <a:pPr indent="0" marL="0">
              <a:lnSpc>
                <a:spcPts val="2100"/>
              </a:lnSpc>
              <a:buNone/>
            </a:pPr>
            <a:r>
              <a:rPr lang="en-US" sz="1600" dirty="0">
                <a:solidFill>
                  <a:srgbClr val="6E6879"/>
                </a:solidFill>
                <a:latin typeface="Calibri" pitchFamily="34" charset="0"/>
                <a:ea typeface="Calibri" pitchFamily="34" charset="-122"/>
                <a:cs typeface="Calibri" pitchFamily="34" charset="-120"/>
              </a:rPr>
              <a:t>Max-pooling: only the strongest response from each neighboring pair survives, shrinking the sequence.</a:t>
            </a:r>
            <a:endParaRPr lang="en-US" sz="1600" dirty="0"/>
          </a:p>
        </p:txBody>
      </p:sp>
      <p:sp>
        <p:nvSpPr>
          <p:cNvPr id="17" name="Shape 14"/>
          <p:cNvSpPr/>
          <p:nvPr/>
        </p:nvSpPr>
        <p:spPr>
          <a:xfrm>
            <a:off x="548640" y="5495544"/>
            <a:ext cx="64008" cy="621792"/>
          </a:xfrm>
          <a:prstGeom prst="rect">
            <a:avLst/>
          </a:prstGeom>
          <a:solidFill>
            <a:srgbClr val="E8552C"/>
          </a:solidFill>
          <a:ln/>
        </p:spPr>
      </p:sp>
      <p:sp>
        <p:nvSpPr>
          <p:cNvPr id="18" name="Text 15"/>
          <p:cNvSpPr txBox="1"/>
          <p:nvPr/>
        </p:nvSpPr>
        <p:spPr>
          <a:xfrm>
            <a:off x="804672" y="5440680"/>
            <a:ext cx="5120640" cy="731520"/>
          </a:xfrm>
          <a:prstGeom prst="rect">
            <a:avLst/>
          </a:prstGeom>
          <a:noFill/>
          <a:ln/>
        </p:spPr>
        <p:txBody>
          <a:bodyPr wrap="square" lIns="0" tIns="0" rIns="0" bIns="0" rtlCol="0" anchor="ctr"/>
          <a:lstStyle/>
          <a:p>
            <a:pPr indent="0" marL="0">
              <a:buNone/>
            </a:pPr>
            <a:r>
              <a:rPr lang="en-US" sz="2100" b="1" dirty="0">
                <a:solidFill>
                  <a:srgbClr val="2B2340"/>
                </a:solidFill>
                <a:latin typeface="Cambria Math" pitchFamily="34" charset="0"/>
                <a:ea typeface="Cambria Math" pitchFamily="34" charset="-122"/>
                <a:cs typeface="Cambria Math" pitchFamily="34" charset="-120"/>
              </a:rPr>
              <a:t>ŷ = softmax(W · flatten(p) + b)</a:t>
            </a:r>
            <a:endParaRPr lang="en-US" sz="2100" dirty="0"/>
          </a:p>
        </p:txBody>
      </p:sp>
      <p:sp>
        <p:nvSpPr>
          <p:cNvPr id="19" name="Text 16"/>
          <p:cNvSpPr txBox="1"/>
          <p:nvPr/>
        </p:nvSpPr>
        <p:spPr>
          <a:xfrm>
            <a:off x="6126480" y="5440680"/>
            <a:ext cx="5486400" cy="731520"/>
          </a:xfrm>
          <a:prstGeom prst="rect">
            <a:avLst/>
          </a:prstGeom>
          <a:noFill/>
          <a:ln/>
        </p:spPr>
        <p:txBody>
          <a:bodyPr wrap="square" lIns="0" tIns="0" rIns="0" bIns="0" rtlCol="0" anchor="ctr"/>
          <a:lstStyle/>
          <a:p>
            <a:pPr indent="0" marL="0">
              <a:lnSpc>
                <a:spcPts val="2100"/>
              </a:lnSpc>
              <a:buNone/>
            </a:pPr>
            <a:r>
              <a:rPr lang="en-US" sz="1600" dirty="0">
                <a:solidFill>
                  <a:srgbClr val="6E6879"/>
                </a:solidFill>
                <a:latin typeface="Calibri" pitchFamily="34" charset="0"/>
                <a:ea typeface="Calibri" pitchFamily="34" charset="-122"/>
                <a:cs typeface="Calibri" pitchFamily="34" charset="-120"/>
              </a:rPr>
              <a:t>The pooled features are flattened and passed through a dense layer to produce 5 class probabilities.</a:t>
            </a:r>
            <a:endParaRPr lang="en-US" sz="1600" dirty="0"/>
          </a:p>
        </p:txBody>
      </p:sp>
      <p:sp>
        <p:nvSpPr>
          <p:cNvPr id="20" name="Text 17"/>
          <p:cNvSpPr txBox="1"/>
          <p:nvPr/>
        </p:nvSpPr>
        <p:spPr>
          <a:xfrm>
            <a:off x="11368735" y="6355080"/>
            <a:ext cx="548640" cy="274320"/>
          </a:xfrm>
          <a:prstGeom prst="rect">
            <a:avLst/>
          </a:prstGeom>
          <a:noFill/>
          <a:ln/>
        </p:spPr>
        <p:txBody>
          <a:bodyPr wrap="square" lIns="0" tIns="0" rIns="0" bIns="0" rtlCol="0" anchor="ctr"/>
          <a:lstStyle/>
          <a:p>
            <a:pPr algn="r" indent="0" marL="0">
              <a:buNone/>
            </a:pPr>
            <a:r>
              <a:rPr lang="en-US" sz="1100" dirty="0">
                <a:solidFill>
                  <a:srgbClr val="6E6879"/>
                </a:solidFill>
                <a:latin typeface="Calibri" pitchFamily="34" charset="0"/>
                <a:ea typeface="Calibri" pitchFamily="34" charset="-122"/>
                <a:cs typeface="Calibri"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AFC"/>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65760"/>
          </a:xfrm>
          <a:prstGeom prst="rect">
            <a:avLst/>
          </a:prstGeom>
          <a:noFill/>
          <a:ln/>
        </p:spPr>
        <p:txBody>
          <a:bodyPr wrap="square" lIns="0" tIns="0" rIns="0" bIns="0" rtlCol="0" anchor="ctr"/>
          <a:lstStyle/>
          <a:p>
            <a:pPr indent="0" marL="0">
              <a:buNone/>
            </a:pPr>
            <a:r>
              <a:rPr lang="en-US" sz="1400" b="1" spc="200" kern="0" dirty="0">
                <a:solidFill>
                  <a:srgbClr val="128C7E"/>
                </a:solidFill>
                <a:latin typeface="Calibri" pitchFamily="34" charset="0"/>
                <a:ea typeface="Calibri" pitchFamily="34" charset="-122"/>
                <a:cs typeface="Calibri" pitchFamily="34" charset="-120"/>
              </a:rPr>
              <a:t>ALGORITHM 2 OF 4 — CONCEPT</a:t>
            </a:r>
            <a:endParaRPr lang="en-US" sz="14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2B2340"/>
                </a:solidFill>
                <a:latin typeface="Cambria" pitchFamily="34" charset="0"/>
                <a:ea typeface="Cambria" pitchFamily="34" charset="-122"/>
                <a:cs typeface="Cambria" pitchFamily="34" charset="-120"/>
              </a:rPr>
              <a:t>Long Short-Term Memory (LSTM)</a:t>
            </a:r>
            <a:endParaRPr lang="en-US" sz="3000" dirty="0"/>
          </a:p>
        </p:txBody>
      </p:sp>
      <p:sp>
        <p:nvSpPr>
          <p:cNvPr id="4" name="Shape 2"/>
          <p:cNvSpPr/>
          <p:nvPr/>
        </p:nvSpPr>
        <p:spPr>
          <a:xfrm>
            <a:off x="182880" y="2127847"/>
            <a:ext cx="3566160" cy="3333825"/>
          </a:xfrm>
          <a:prstGeom prst="roundRect">
            <a:avLst>
              <a:gd name="adj" fmla="val 3291"/>
            </a:avLst>
          </a:prstGeom>
          <a:solidFill>
            <a:srgbClr val="FFFFFF"/>
          </a:solidFill>
          <a:ln w="15875">
            <a:solidFill>
              <a:srgbClr val="E7E1F0"/>
            </a:solidFill>
            <a:prstDash val="solid"/>
          </a:ln>
          <a:effectLst>
            <a:outerShdw sx="100000" sy="100000" kx="0" ky="0" algn="bl" rotWithShape="0" blurRad="152400" dist="38100" dir="5400000">
              <a:srgbClr val="1A1A2E">
                <a:alpha val="16000"/>
              </a:srgbClr>
            </a:outerShdw>
          </a:effectLst>
        </p:spPr>
      </p:sp>
      <p:sp>
        <p:nvSpPr>
          <p:cNvPr id="5" name="Shape 3"/>
          <p:cNvSpPr/>
          <p:nvPr/>
        </p:nvSpPr>
        <p:spPr>
          <a:xfrm>
            <a:off x="182880" y="2127847"/>
            <a:ext cx="3566160" cy="82296"/>
          </a:xfrm>
          <a:prstGeom prst="rect">
            <a:avLst/>
          </a:prstGeom>
          <a:solidFill>
            <a:srgbClr val="128C7E"/>
          </a:solidFill>
          <a:ln/>
        </p:spPr>
      </p:sp>
      <p:pic>
        <p:nvPicPr>
          <p:cNvPr id="6" name="Image 0" descr="/home/claude/ecg_deck/diagram_lstm.png">    </p:cNvPr>
          <p:cNvPicPr>
            <a:picLocks noChangeAspect="1"/>
          </p:cNvPicPr>
          <p:nvPr/>
        </p:nvPicPr>
        <p:blipFill>
          <a:blip r:embed="rId1"/>
          <a:stretch>
            <a:fillRect/>
          </a:stretch>
        </p:blipFill>
        <p:spPr>
          <a:xfrm>
            <a:off x="457200" y="2402167"/>
            <a:ext cx="3017520" cy="2785185"/>
          </a:xfrm>
          <a:prstGeom prst="rect">
            <a:avLst/>
          </a:prstGeom>
        </p:spPr>
      </p:pic>
      <p:sp>
        <p:nvSpPr>
          <p:cNvPr id="7" name="Shape 4"/>
          <p:cNvSpPr/>
          <p:nvPr/>
        </p:nvSpPr>
        <p:spPr>
          <a:xfrm>
            <a:off x="3977640" y="1737360"/>
            <a:ext cx="64008" cy="960120"/>
          </a:xfrm>
          <a:prstGeom prst="rect">
            <a:avLst/>
          </a:prstGeom>
          <a:solidFill>
            <a:srgbClr val="128C7E"/>
          </a:solidFill>
          <a:ln/>
        </p:spPr>
      </p:sp>
      <p:sp>
        <p:nvSpPr>
          <p:cNvPr id="8" name="Text 5"/>
          <p:cNvSpPr txBox="1"/>
          <p:nvPr/>
        </p:nvSpPr>
        <p:spPr>
          <a:xfrm>
            <a:off x="4233672" y="1673352"/>
            <a:ext cx="7379208" cy="292608"/>
          </a:xfrm>
          <a:prstGeom prst="rect">
            <a:avLst/>
          </a:prstGeom>
          <a:noFill/>
          <a:ln/>
        </p:spPr>
        <p:txBody>
          <a:bodyPr wrap="square" lIns="0" tIns="0" rIns="0" bIns="0" rtlCol="0" anchor="ctr"/>
          <a:lstStyle/>
          <a:p>
            <a:pPr indent="0" marL="0">
              <a:buNone/>
            </a:pPr>
            <a:r>
              <a:rPr lang="en-US" sz="1400" b="1" spc="100" kern="0" dirty="0">
                <a:solidFill>
                  <a:srgbClr val="128C7E"/>
                </a:solidFill>
                <a:latin typeface="Calibri" pitchFamily="34" charset="0"/>
                <a:ea typeface="Calibri" pitchFamily="34" charset="-122"/>
                <a:cs typeface="Calibri" pitchFamily="34" charset="-120"/>
              </a:rPr>
              <a:t>BASIC IDEA</a:t>
            </a:r>
            <a:endParaRPr lang="en-US" sz="1400" dirty="0"/>
          </a:p>
        </p:txBody>
      </p:sp>
      <p:sp>
        <p:nvSpPr>
          <p:cNvPr id="9" name="Text 6"/>
          <p:cNvSpPr txBox="1"/>
          <p:nvPr/>
        </p:nvSpPr>
        <p:spPr>
          <a:xfrm>
            <a:off x="4233672" y="2011680"/>
            <a:ext cx="7379208" cy="1005840"/>
          </a:xfrm>
          <a:prstGeom prst="rect">
            <a:avLst/>
          </a:prstGeom>
          <a:noFill/>
          <a:ln/>
        </p:spPr>
        <p:txBody>
          <a:bodyPr wrap="square" lIns="0" tIns="0" rIns="0" bIns="0" rtlCol="0" anchor="ctr"/>
          <a:lstStyle/>
          <a:p>
            <a:pPr indent="0" marL="0">
              <a:lnSpc>
                <a:spcPts val="2300"/>
              </a:lnSpc>
              <a:buNone/>
            </a:pPr>
            <a:r>
              <a:rPr lang="en-US" sz="1800" dirty="0">
                <a:solidFill>
                  <a:srgbClr val="2B2340"/>
                </a:solidFill>
                <a:latin typeface="Calibri" pitchFamily="34" charset="0"/>
                <a:ea typeface="Calibri" pitchFamily="34" charset="-122"/>
                <a:cs typeface="Calibri" pitchFamily="34" charset="-120"/>
              </a:rPr>
              <a:t>Reads the ECG signal one time-step at a time while carrying forward a “memory” of everything seen so far, using gates that decide what to keep, forget, and pass on.</a:t>
            </a:r>
            <a:endParaRPr lang="en-US" sz="1800" dirty="0"/>
          </a:p>
        </p:txBody>
      </p:sp>
      <p:sp>
        <p:nvSpPr>
          <p:cNvPr id="10" name="Shape 7"/>
          <p:cNvSpPr/>
          <p:nvPr/>
        </p:nvSpPr>
        <p:spPr>
          <a:xfrm>
            <a:off x="3977640" y="3364992"/>
            <a:ext cx="64008" cy="960120"/>
          </a:xfrm>
          <a:prstGeom prst="rect">
            <a:avLst/>
          </a:prstGeom>
          <a:solidFill>
            <a:srgbClr val="128C7E"/>
          </a:solidFill>
          <a:ln/>
        </p:spPr>
      </p:sp>
      <p:sp>
        <p:nvSpPr>
          <p:cNvPr id="11" name="Text 8"/>
          <p:cNvSpPr txBox="1"/>
          <p:nvPr/>
        </p:nvSpPr>
        <p:spPr>
          <a:xfrm>
            <a:off x="4233672" y="3300984"/>
            <a:ext cx="7379208" cy="292608"/>
          </a:xfrm>
          <a:prstGeom prst="rect">
            <a:avLst/>
          </a:prstGeom>
          <a:noFill/>
          <a:ln/>
        </p:spPr>
        <p:txBody>
          <a:bodyPr wrap="square" lIns="0" tIns="0" rIns="0" bIns="0" rtlCol="0" anchor="ctr"/>
          <a:lstStyle/>
          <a:p>
            <a:pPr indent="0" marL="0">
              <a:buNone/>
            </a:pPr>
            <a:r>
              <a:rPr lang="en-US" sz="1400" b="1" spc="100" kern="0" dirty="0">
                <a:solidFill>
                  <a:srgbClr val="128C7E"/>
                </a:solidFill>
                <a:latin typeface="Calibri" pitchFamily="34" charset="0"/>
                <a:ea typeface="Calibri" pitchFamily="34" charset="-122"/>
                <a:cs typeface="Calibri" pitchFamily="34" charset="-120"/>
              </a:rPr>
              <a:t>WHY IT FITS THIS DATASET</a:t>
            </a:r>
            <a:endParaRPr lang="en-US" sz="1400" dirty="0"/>
          </a:p>
        </p:txBody>
      </p:sp>
      <p:sp>
        <p:nvSpPr>
          <p:cNvPr id="12" name="Text 9"/>
          <p:cNvSpPr txBox="1"/>
          <p:nvPr/>
        </p:nvSpPr>
        <p:spPr>
          <a:xfrm>
            <a:off x="4233672" y="3639312"/>
            <a:ext cx="7379208" cy="1005840"/>
          </a:xfrm>
          <a:prstGeom prst="rect">
            <a:avLst/>
          </a:prstGeom>
          <a:noFill/>
          <a:ln/>
        </p:spPr>
        <p:txBody>
          <a:bodyPr wrap="square" lIns="0" tIns="0" rIns="0" bIns="0" rtlCol="0" anchor="ctr"/>
          <a:lstStyle/>
          <a:p>
            <a:pPr indent="0" marL="0">
              <a:lnSpc>
                <a:spcPts val="2300"/>
              </a:lnSpc>
              <a:buNone/>
            </a:pPr>
            <a:r>
              <a:rPr lang="en-US" sz="1800" dirty="0">
                <a:solidFill>
                  <a:srgbClr val="2B2340"/>
                </a:solidFill>
                <a:latin typeface="Calibri" pitchFamily="34" charset="0"/>
                <a:ea typeface="Calibri" pitchFamily="34" charset="-122"/>
                <a:cs typeface="Calibri" pitchFamily="34" charset="-120"/>
              </a:rPr>
              <a:t>An arrhythmia isn't only about a single beat's shape — the rhythm and timing building up to it matters too. LSTM's memory is built exactly to capture that kind of build-up across a sequence.</a:t>
            </a:r>
            <a:endParaRPr lang="en-US" sz="1800" dirty="0"/>
          </a:p>
        </p:txBody>
      </p:sp>
      <p:sp>
        <p:nvSpPr>
          <p:cNvPr id="13" name="Shape 10"/>
          <p:cNvSpPr/>
          <p:nvPr/>
        </p:nvSpPr>
        <p:spPr>
          <a:xfrm>
            <a:off x="3977640" y="4992624"/>
            <a:ext cx="64008" cy="960120"/>
          </a:xfrm>
          <a:prstGeom prst="rect">
            <a:avLst/>
          </a:prstGeom>
          <a:solidFill>
            <a:srgbClr val="128C7E"/>
          </a:solidFill>
          <a:ln/>
        </p:spPr>
      </p:sp>
      <p:sp>
        <p:nvSpPr>
          <p:cNvPr id="14" name="Text 11"/>
          <p:cNvSpPr txBox="1"/>
          <p:nvPr/>
        </p:nvSpPr>
        <p:spPr>
          <a:xfrm>
            <a:off x="4233672" y="4928616"/>
            <a:ext cx="7379208" cy="292608"/>
          </a:xfrm>
          <a:prstGeom prst="rect">
            <a:avLst/>
          </a:prstGeom>
          <a:noFill/>
          <a:ln/>
        </p:spPr>
        <p:txBody>
          <a:bodyPr wrap="square" lIns="0" tIns="0" rIns="0" bIns="0" rtlCol="0" anchor="ctr"/>
          <a:lstStyle/>
          <a:p>
            <a:pPr indent="0" marL="0">
              <a:buNone/>
            </a:pPr>
            <a:r>
              <a:rPr lang="en-US" sz="1400" b="1" spc="100" kern="0" dirty="0">
                <a:solidFill>
                  <a:srgbClr val="128C7E"/>
                </a:solidFill>
                <a:latin typeface="Calibri" pitchFamily="34" charset="0"/>
                <a:ea typeface="Calibri" pitchFamily="34" charset="-122"/>
                <a:cs typeface="Calibri" pitchFamily="34" charset="-120"/>
              </a:rPr>
              <a:t>CORE LOGIC</a:t>
            </a:r>
            <a:endParaRPr lang="en-US" sz="1400" dirty="0"/>
          </a:p>
        </p:txBody>
      </p:sp>
      <p:sp>
        <p:nvSpPr>
          <p:cNvPr id="15" name="Text 12"/>
          <p:cNvSpPr txBox="1"/>
          <p:nvPr/>
        </p:nvSpPr>
        <p:spPr>
          <a:xfrm>
            <a:off x="4233672" y="5266944"/>
            <a:ext cx="7379208" cy="1005840"/>
          </a:xfrm>
          <a:prstGeom prst="rect">
            <a:avLst/>
          </a:prstGeom>
          <a:noFill/>
          <a:ln/>
        </p:spPr>
        <p:txBody>
          <a:bodyPr wrap="square" lIns="0" tIns="0" rIns="0" bIns="0" rtlCol="0" anchor="ctr"/>
          <a:lstStyle/>
          <a:p>
            <a:pPr indent="0" marL="0">
              <a:lnSpc>
                <a:spcPts val="2300"/>
              </a:lnSpc>
              <a:buNone/>
            </a:pPr>
            <a:r>
              <a:rPr lang="en-US" sz="1800" dirty="0">
                <a:solidFill>
                  <a:srgbClr val="2B2340"/>
                </a:solidFill>
                <a:latin typeface="Calibri" pitchFamily="34" charset="0"/>
                <a:ea typeface="Calibri" pitchFamily="34" charset="-122"/>
                <a:cs typeface="Calibri" pitchFamily="34" charset="-120"/>
              </a:rPr>
              <a:t>At each step, forget/input/output gates update a running cell state; the final cell state — having “remembered” the relevant rhythm history — is passed to a dense layer for classification.</a:t>
            </a:r>
            <a:endParaRPr lang="en-US" sz="1800" dirty="0"/>
          </a:p>
        </p:txBody>
      </p:sp>
      <p:sp>
        <p:nvSpPr>
          <p:cNvPr id="16" name="Text 13"/>
          <p:cNvSpPr txBox="1"/>
          <p:nvPr/>
        </p:nvSpPr>
        <p:spPr>
          <a:xfrm>
            <a:off x="11368735" y="6355080"/>
            <a:ext cx="548640" cy="274320"/>
          </a:xfrm>
          <a:prstGeom prst="rect">
            <a:avLst/>
          </a:prstGeom>
          <a:noFill/>
          <a:ln/>
        </p:spPr>
        <p:txBody>
          <a:bodyPr wrap="square" lIns="0" tIns="0" rIns="0" bIns="0" rtlCol="0" anchor="ctr"/>
          <a:lstStyle/>
          <a:p>
            <a:pPr algn="r" indent="0" marL="0">
              <a:buNone/>
            </a:pPr>
            <a:r>
              <a:rPr lang="en-US" sz="1100" dirty="0">
                <a:solidFill>
                  <a:srgbClr val="6E6879"/>
                </a:solidFill>
                <a:latin typeface="Calibri" pitchFamily="34" charset="0"/>
                <a:ea typeface="Calibri" pitchFamily="34" charset="-122"/>
                <a:cs typeface="Calibri"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AFC"/>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65760"/>
          </a:xfrm>
          <a:prstGeom prst="rect">
            <a:avLst/>
          </a:prstGeom>
          <a:noFill/>
          <a:ln/>
        </p:spPr>
        <p:txBody>
          <a:bodyPr wrap="square" lIns="0" tIns="0" rIns="0" bIns="0" rtlCol="0" anchor="ctr"/>
          <a:lstStyle/>
          <a:p>
            <a:pPr indent="0" marL="0">
              <a:buNone/>
            </a:pPr>
            <a:r>
              <a:rPr lang="en-US" sz="1400" b="1" spc="200" kern="0" dirty="0">
                <a:solidFill>
                  <a:srgbClr val="128C7E"/>
                </a:solidFill>
                <a:latin typeface="Calibri" pitchFamily="34" charset="0"/>
                <a:ea typeface="Calibri" pitchFamily="34" charset="-122"/>
                <a:cs typeface="Calibri" pitchFamily="34" charset="-120"/>
              </a:rPr>
              <a:t>ALGORITHM 2 OF 4 — THE MATH</a:t>
            </a:r>
            <a:endParaRPr lang="en-US" sz="1400" dirty="0"/>
          </a:p>
        </p:txBody>
      </p:sp>
      <p:sp>
        <p:nvSpPr>
          <p:cNvPr id="3" name="Text 1"/>
          <p:cNvSpPr txBox="1"/>
          <p:nvPr/>
        </p:nvSpPr>
        <p:spPr>
          <a:xfrm>
            <a:off x="548640" y="777240"/>
            <a:ext cx="7863840" cy="685800"/>
          </a:xfrm>
          <a:prstGeom prst="rect">
            <a:avLst/>
          </a:prstGeom>
          <a:noFill/>
          <a:ln/>
        </p:spPr>
        <p:txBody>
          <a:bodyPr wrap="square" lIns="0" tIns="0" rIns="0" bIns="0" rtlCol="0" anchor="ctr"/>
          <a:lstStyle/>
          <a:p>
            <a:pPr indent="0" marL="0">
              <a:buNone/>
            </a:pPr>
            <a:r>
              <a:rPr lang="en-US" sz="2700" b="1" dirty="0">
                <a:solidFill>
                  <a:srgbClr val="2B2340"/>
                </a:solidFill>
                <a:latin typeface="Cambria" pitchFamily="34" charset="0"/>
                <a:ea typeface="Cambria" pitchFamily="34" charset="-122"/>
                <a:cs typeface="Cambria" pitchFamily="34" charset="-120"/>
              </a:rPr>
              <a:t>Long Short-Term Memory (LSTM)</a:t>
            </a:r>
            <a:endParaRPr lang="en-US" sz="2700" dirty="0"/>
          </a:p>
        </p:txBody>
      </p:sp>
      <p:sp>
        <p:nvSpPr>
          <p:cNvPr id="4" name="Text 2"/>
          <p:cNvSpPr txBox="1"/>
          <p:nvPr/>
        </p:nvSpPr>
        <p:spPr>
          <a:xfrm>
            <a:off x="548640" y="1371600"/>
            <a:ext cx="8229600" cy="320040"/>
          </a:xfrm>
          <a:prstGeom prst="rect">
            <a:avLst/>
          </a:prstGeom>
          <a:noFill/>
          <a:ln/>
        </p:spPr>
        <p:txBody>
          <a:bodyPr wrap="square" lIns="0" tIns="0" rIns="0" bIns="0" rtlCol="0" anchor="ctr"/>
          <a:lstStyle/>
          <a:p>
            <a:pPr indent="0" marL="0">
              <a:buNone/>
            </a:pPr>
            <a:r>
              <a:rPr lang="en-US" sz="1400" i="1" dirty="0">
                <a:solidFill>
                  <a:srgbClr val="6E6879"/>
                </a:solidFill>
                <a:latin typeface="Calibri" pitchFamily="34" charset="0"/>
                <a:ea typeface="Calibri" pitchFamily="34" charset="-122"/>
                <a:cs typeface="Calibri" pitchFamily="34" charset="-120"/>
              </a:rPr>
              <a:t>The equations actually implemented for this model</a:t>
            </a:r>
            <a:endParaRPr lang="en-US" sz="1400" dirty="0"/>
          </a:p>
        </p:txBody>
      </p:sp>
      <p:sp>
        <p:nvSpPr>
          <p:cNvPr id="5" name="Shape 3"/>
          <p:cNvSpPr/>
          <p:nvPr/>
        </p:nvSpPr>
        <p:spPr>
          <a:xfrm>
            <a:off x="9437296" y="274320"/>
            <a:ext cx="2430927" cy="2286000"/>
          </a:xfrm>
          <a:prstGeom prst="roundRect">
            <a:avLst>
              <a:gd name="adj" fmla="val 4800"/>
            </a:avLst>
          </a:prstGeom>
          <a:solidFill>
            <a:srgbClr val="FFFFFF"/>
          </a:solidFill>
          <a:ln w="15875">
            <a:solidFill>
              <a:srgbClr val="E7E1F0"/>
            </a:solidFill>
            <a:prstDash val="solid"/>
          </a:ln>
          <a:effectLst>
            <a:outerShdw sx="100000" sy="100000" kx="0" ky="0" algn="bl" rotWithShape="0" blurRad="152400" dist="38100" dir="5400000">
              <a:srgbClr val="1A1A2E">
                <a:alpha val="16000"/>
              </a:srgbClr>
            </a:outerShdw>
          </a:effectLst>
        </p:spPr>
      </p:sp>
      <p:sp>
        <p:nvSpPr>
          <p:cNvPr id="6" name="Shape 4"/>
          <p:cNvSpPr/>
          <p:nvPr/>
        </p:nvSpPr>
        <p:spPr>
          <a:xfrm>
            <a:off x="9437296" y="274320"/>
            <a:ext cx="2430927" cy="82296"/>
          </a:xfrm>
          <a:prstGeom prst="rect">
            <a:avLst/>
          </a:prstGeom>
          <a:solidFill>
            <a:srgbClr val="128C7E"/>
          </a:solidFill>
          <a:ln/>
        </p:spPr>
      </p:sp>
      <p:pic>
        <p:nvPicPr>
          <p:cNvPr id="7" name="Image 0" descr="/home/claude/ecg_deck/diagram_lstm.png">    </p:cNvPr>
          <p:cNvPicPr>
            <a:picLocks noChangeAspect="1"/>
          </p:cNvPicPr>
          <p:nvPr/>
        </p:nvPicPr>
        <p:blipFill>
          <a:blip r:embed="rId1"/>
          <a:stretch>
            <a:fillRect/>
          </a:stretch>
        </p:blipFill>
        <p:spPr>
          <a:xfrm>
            <a:off x="9711616" y="548640"/>
            <a:ext cx="1882287" cy="1737360"/>
          </a:xfrm>
          <a:prstGeom prst="rect">
            <a:avLst/>
          </a:prstGeom>
        </p:spPr>
      </p:pic>
      <p:sp>
        <p:nvSpPr>
          <p:cNvPr id="8" name="Shape 5"/>
          <p:cNvSpPr/>
          <p:nvPr/>
        </p:nvSpPr>
        <p:spPr>
          <a:xfrm>
            <a:off x="548640" y="2752344"/>
            <a:ext cx="64008" cy="438912"/>
          </a:xfrm>
          <a:prstGeom prst="rect">
            <a:avLst/>
          </a:prstGeom>
          <a:solidFill>
            <a:srgbClr val="128C7E"/>
          </a:solidFill>
          <a:ln/>
        </p:spPr>
      </p:sp>
      <p:sp>
        <p:nvSpPr>
          <p:cNvPr id="9" name="Text 6"/>
          <p:cNvSpPr txBox="1"/>
          <p:nvPr/>
        </p:nvSpPr>
        <p:spPr>
          <a:xfrm>
            <a:off x="804672" y="2697480"/>
            <a:ext cx="5120640" cy="548640"/>
          </a:xfrm>
          <a:prstGeom prst="rect">
            <a:avLst/>
          </a:prstGeom>
          <a:noFill/>
          <a:ln/>
        </p:spPr>
        <p:txBody>
          <a:bodyPr wrap="square" lIns="0" tIns="0" rIns="0" bIns="0" rtlCol="0" anchor="ctr"/>
          <a:lstStyle/>
          <a:p>
            <a:pPr indent="0" marL="0">
              <a:buNone/>
            </a:pPr>
            <a:r>
              <a:rPr lang="en-US" sz="2100" b="1" dirty="0">
                <a:solidFill>
                  <a:srgbClr val="2B2340"/>
                </a:solidFill>
                <a:latin typeface="Cambria Math" pitchFamily="34" charset="0"/>
                <a:ea typeface="Cambria Math" pitchFamily="34" charset="-122"/>
                <a:cs typeface="Cambria Math" pitchFamily="34" charset="-120"/>
              </a:rPr>
              <a:t>f</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 = σ(W</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f</a:t>
            </a:r>
            <a:pPr indent="0" marL="0">
              <a:buNone/>
            </a:pPr>
            <a:r>
              <a:rPr lang="en-US" sz="2100" b="1" dirty="0">
                <a:solidFill>
                  <a:srgbClr val="2B2340"/>
                </a:solidFill>
                <a:latin typeface="Cambria Math" pitchFamily="34" charset="0"/>
                <a:ea typeface="Cambria Math" pitchFamily="34" charset="-122"/>
                <a:cs typeface="Cambria Math" pitchFamily="34" charset="-120"/>
              </a:rPr>
              <a:t> [h</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t-1</a:t>
            </a:r>
            <a:pPr indent="0" marL="0">
              <a:buNone/>
            </a:pPr>
            <a:r>
              <a:rPr lang="en-US" sz="2100" b="1" dirty="0">
                <a:solidFill>
                  <a:srgbClr val="2B2340"/>
                </a:solidFill>
                <a:latin typeface="Cambria Math" pitchFamily="34" charset="0"/>
                <a:ea typeface="Cambria Math" pitchFamily="34" charset="-122"/>
                <a:cs typeface="Cambria Math" pitchFamily="34" charset="-120"/>
              </a:rPr>
              <a:t>, x</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 + b</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f</a:t>
            </a:r>
            <a:pPr indent="0" marL="0">
              <a:buNone/>
            </a:pPr>
            <a:r>
              <a:rPr lang="en-US" sz="2100" b="1" dirty="0">
                <a:solidFill>
                  <a:srgbClr val="2B2340"/>
                </a:solidFill>
                <a:latin typeface="Cambria Math" pitchFamily="34" charset="0"/>
                <a:ea typeface="Cambria Math" pitchFamily="34" charset="-122"/>
                <a:cs typeface="Cambria Math" pitchFamily="34" charset="-120"/>
              </a:rPr>
              <a:t>)</a:t>
            </a:r>
            <a:endParaRPr lang="en-US" sz="2100" dirty="0"/>
          </a:p>
        </p:txBody>
      </p:sp>
      <p:sp>
        <p:nvSpPr>
          <p:cNvPr id="10" name="Text 7"/>
          <p:cNvSpPr txBox="1"/>
          <p:nvPr/>
        </p:nvSpPr>
        <p:spPr>
          <a:xfrm>
            <a:off x="6126480" y="2697480"/>
            <a:ext cx="5486400" cy="548640"/>
          </a:xfrm>
          <a:prstGeom prst="rect">
            <a:avLst/>
          </a:prstGeom>
          <a:noFill/>
          <a:ln/>
        </p:spPr>
        <p:txBody>
          <a:bodyPr wrap="square" lIns="0" tIns="0" rIns="0" bIns="0" rtlCol="0" anchor="ctr"/>
          <a:lstStyle/>
          <a:p>
            <a:pPr indent="0" marL="0">
              <a:lnSpc>
                <a:spcPts val="2100"/>
              </a:lnSpc>
              <a:buNone/>
            </a:pPr>
            <a:r>
              <a:rPr lang="en-US" sz="1600" dirty="0">
                <a:solidFill>
                  <a:srgbClr val="6E6879"/>
                </a:solidFill>
                <a:latin typeface="Calibri" pitchFamily="34" charset="0"/>
                <a:ea typeface="Calibri" pitchFamily="34" charset="-122"/>
                <a:cs typeface="Calibri" pitchFamily="34" charset="-120"/>
              </a:rPr>
              <a:t>Forget gate: decides how much of the old cell memory to keep versus throw away.</a:t>
            </a:r>
            <a:endParaRPr lang="en-US" sz="1600" dirty="0"/>
          </a:p>
        </p:txBody>
      </p:sp>
      <p:sp>
        <p:nvSpPr>
          <p:cNvPr id="11" name="Shape 8"/>
          <p:cNvSpPr/>
          <p:nvPr/>
        </p:nvSpPr>
        <p:spPr>
          <a:xfrm>
            <a:off x="548640" y="3483864"/>
            <a:ext cx="64008" cy="438912"/>
          </a:xfrm>
          <a:prstGeom prst="rect">
            <a:avLst/>
          </a:prstGeom>
          <a:solidFill>
            <a:srgbClr val="128C7E"/>
          </a:solidFill>
          <a:ln/>
        </p:spPr>
      </p:sp>
      <p:sp>
        <p:nvSpPr>
          <p:cNvPr id="12" name="Text 9"/>
          <p:cNvSpPr txBox="1"/>
          <p:nvPr/>
        </p:nvSpPr>
        <p:spPr>
          <a:xfrm>
            <a:off x="804672" y="3429000"/>
            <a:ext cx="5120640" cy="548640"/>
          </a:xfrm>
          <a:prstGeom prst="rect">
            <a:avLst/>
          </a:prstGeom>
          <a:noFill/>
          <a:ln/>
        </p:spPr>
        <p:txBody>
          <a:bodyPr wrap="square" lIns="0" tIns="0" rIns="0" bIns="0" rtlCol="0" anchor="ctr"/>
          <a:lstStyle/>
          <a:p>
            <a:pPr indent="0" marL="0">
              <a:buNone/>
            </a:pPr>
            <a:r>
              <a:rPr lang="en-US" sz="2100" b="1" dirty="0">
                <a:solidFill>
                  <a:srgbClr val="2B2340"/>
                </a:solidFill>
                <a:latin typeface="Cambria Math" pitchFamily="34" charset="0"/>
                <a:ea typeface="Cambria Math" pitchFamily="34" charset="-122"/>
                <a:cs typeface="Cambria Math" pitchFamily="34" charset="-120"/>
              </a:rPr>
              <a:t>i</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 = σ(W</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i</a:t>
            </a:r>
            <a:pPr indent="0" marL="0">
              <a:buNone/>
            </a:pPr>
            <a:r>
              <a:rPr lang="en-US" sz="2100" b="1" dirty="0">
                <a:solidFill>
                  <a:srgbClr val="2B2340"/>
                </a:solidFill>
                <a:latin typeface="Cambria Math" pitchFamily="34" charset="0"/>
                <a:ea typeface="Cambria Math" pitchFamily="34" charset="-122"/>
                <a:cs typeface="Cambria Math" pitchFamily="34" charset="-120"/>
              </a:rPr>
              <a:t> [h</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t-1</a:t>
            </a:r>
            <a:pPr indent="0" marL="0">
              <a:buNone/>
            </a:pPr>
            <a:r>
              <a:rPr lang="en-US" sz="2100" b="1" dirty="0">
                <a:solidFill>
                  <a:srgbClr val="2B2340"/>
                </a:solidFill>
                <a:latin typeface="Cambria Math" pitchFamily="34" charset="0"/>
                <a:ea typeface="Cambria Math" pitchFamily="34" charset="-122"/>
                <a:cs typeface="Cambria Math" pitchFamily="34" charset="-120"/>
              </a:rPr>
              <a:t>, x</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 + b</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i</a:t>
            </a:r>
            <a:pPr indent="0" marL="0">
              <a:buNone/>
            </a:pPr>
            <a:r>
              <a:rPr lang="en-US" sz="2100" b="1" dirty="0">
                <a:solidFill>
                  <a:srgbClr val="2B2340"/>
                </a:solidFill>
                <a:latin typeface="Cambria Math" pitchFamily="34" charset="0"/>
                <a:ea typeface="Cambria Math" pitchFamily="34" charset="-122"/>
                <a:cs typeface="Cambria Math" pitchFamily="34" charset="-120"/>
              </a:rPr>
              <a:t>)</a:t>
            </a:r>
            <a:endParaRPr lang="en-US" sz="2100" dirty="0"/>
          </a:p>
        </p:txBody>
      </p:sp>
      <p:sp>
        <p:nvSpPr>
          <p:cNvPr id="13" name="Text 10"/>
          <p:cNvSpPr txBox="1"/>
          <p:nvPr/>
        </p:nvSpPr>
        <p:spPr>
          <a:xfrm>
            <a:off x="6126480" y="3429000"/>
            <a:ext cx="5486400" cy="548640"/>
          </a:xfrm>
          <a:prstGeom prst="rect">
            <a:avLst/>
          </a:prstGeom>
          <a:noFill/>
          <a:ln/>
        </p:spPr>
        <p:txBody>
          <a:bodyPr wrap="square" lIns="0" tIns="0" rIns="0" bIns="0" rtlCol="0" anchor="ctr"/>
          <a:lstStyle/>
          <a:p>
            <a:pPr indent="0" marL="0">
              <a:lnSpc>
                <a:spcPts val="2100"/>
              </a:lnSpc>
              <a:buNone/>
            </a:pPr>
            <a:r>
              <a:rPr lang="en-US" sz="1600" dirty="0">
                <a:solidFill>
                  <a:srgbClr val="6E6879"/>
                </a:solidFill>
                <a:latin typeface="Calibri" pitchFamily="34" charset="0"/>
                <a:ea typeface="Calibri" pitchFamily="34" charset="-122"/>
                <a:cs typeface="Calibri" pitchFamily="34" charset="-120"/>
              </a:rPr>
              <a:t>Input gate: decides how much of the newly seen information to add into memory.</a:t>
            </a:r>
            <a:endParaRPr lang="en-US" sz="1600" dirty="0"/>
          </a:p>
        </p:txBody>
      </p:sp>
      <p:sp>
        <p:nvSpPr>
          <p:cNvPr id="14" name="Shape 11"/>
          <p:cNvSpPr/>
          <p:nvPr/>
        </p:nvSpPr>
        <p:spPr>
          <a:xfrm>
            <a:off x="548640" y="4215384"/>
            <a:ext cx="64008" cy="438912"/>
          </a:xfrm>
          <a:prstGeom prst="rect">
            <a:avLst/>
          </a:prstGeom>
          <a:solidFill>
            <a:srgbClr val="128C7E"/>
          </a:solidFill>
          <a:ln/>
        </p:spPr>
      </p:sp>
      <p:sp>
        <p:nvSpPr>
          <p:cNvPr id="15" name="Text 12"/>
          <p:cNvSpPr txBox="1"/>
          <p:nvPr/>
        </p:nvSpPr>
        <p:spPr>
          <a:xfrm>
            <a:off x="804672" y="4160520"/>
            <a:ext cx="5120640" cy="548640"/>
          </a:xfrm>
          <a:prstGeom prst="rect">
            <a:avLst/>
          </a:prstGeom>
          <a:noFill/>
          <a:ln/>
        </p:spPr>
        <p:txBody>
          <a:bodyPr wrap="square" lIns="0" tIns="0" rIns="0" bIns="0" rtlCol="0" anchor="ctr"/>
          <a:lstStyle/>
          <a:p>
            <a:pPr indent="0" marL="0">
              <a:buNone/>
            </a:pPr>
            <a:r>
              <a:rPr lang="en-US" sz="2100" b="1" dirty="0">
                <a:solidFill>
                  <a:srgbClr val="2B2340"/>
                </a:solidFill>
                <a:latin typeface="Cambria Math" pitchFamily="34" charset="0"/>
                <a:ea typeface="Cambria Math" pitchFamily="34" charset="-122"/>
                <a:cs typeface="Cambria Math" pitchFamily="34" charset="-120"/>
              </a:rPr>
              <a:t>c˜</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 = tanh(W</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c</a:t>
            </a:r>
            <a:pPr indent="0" marL="0">
              <a:buNone/>
            </a:pPr>
            <a:r>
              <a:rPr lang="en-US" sz="2100" b="1" dirty="0">
                <a:solidFill>
                  <a:srgbClr val="2B2340"/>
                </a:solidFill>
                <a:latin typeface="Cambria Math" pitchFamily="34" charset="0"/>
                <a:ea typeface="Cambria Math" pitchFamily="34" charset="-122"/>
                <a:cs typeface="Cambria Math" pitchFamily="34" charset="-120"/>
              </a:rPr>
              <a:t> [h</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t-1</a:t>
            </a:r>
            <a:pPr indent="0" marL="0">
              <a:buNone/>
            </a:pPr>
            <a:r>
              <a:rPr lang="en-US" sz="2100" b="1" dirty="0">
                <a:solidFill>
                  <a:srgbClr val="2B2340"/>
                </a:solidFill>
                <a:latin typeface="Cambria Math" pitchFamily="34" charset="0"/>
                <a:ea typeface="Cambria Math" pitchFamily="34" charset="-122"/>
                <a:cs typeface="Cambria Math" pitchFamily="34" charset="-120"/>
              </a:rPr>
              <a:t>, x</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 + b</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c</a:t>
            </a:r>
            <a:pPr indent="0" marL="0">
              <a:buNone/>
            </a:pPr>
            <a:r>
              <a:rPr lang="en-US" sz="2100" b="1" dirty="0">
                <a:solidFill>
                  <a:srgbClr val="2B2340"/>
                </a:solidFill>
                <a:latin typeface="Cambria Math" pitchFamily="34" charset="0"/>
                <a:ea typeface="Cambria Math" pitchFamily="34" charset="-122"/>
                <a:cs typeface="Cambria Math" pitchFamily="34" charset="-120"/>
              </a:rPr>
              <a:t>)</a:t>
            </a:r>
            <a:endParaRPr lang="en-US" sz="2100" dirty="0"/>
          </a:p>
        </p:txBody>
      </p:sp>
      <p:sp>
        <p:nvSpPr>
          <p:cNvPr id="16" name="Text 13"/>
          <p:cNvSpPr txBox="1"/>
          <p:nvPr/>
        </p:nvSpPr>
        <p:spPr>
          <a:xfrm>
            <a:off x="6126480" y="4160520"/>
            <a:ext cx="5486400" cy="548640"/>
          </a:xfrm>
          <a:prstGeom prst="rect">
            <a:avLst/>
          </a:prstGeom>
          <a:noFill/>
          <a:ln/>
        </p:spPr>
        <p:txBody>
          <a:bodyPr wrap="square" lIns="0" tIns="0" rIns="0" bIns="0" rtlCol="0" anchor="ctr"/>
          <a:lstStyle/>
          <a:p>
            <a:pPr indent="0" marL="0">
              <a:lnSpc>
                <a:spcPts val="2100"/>
              </a:lnSpc>
              <a:buNone/>
            </a:pPr>
            <a:r>
              <a:rPr lang="en-US" sz="1600" dirty="0">
                <a:solidFill>
                  <a:srgbClr val="6E6879"/>
                </a:solidFill>
                <a:latin typeface="Calibri" pitchFamily="34" charset="0"/>
                <a:ea typeface="Calibri" pitchFamily="34" charset="-122"/>
                <a:cs typeface="Calibri" pitchFamily="34" charset="-120"/>
              </a:rPr>
              <a:t>Candidate values: a proposal for what could be added to the cell state.</a:t>
            </a:r>
            <a:endParaRPr lang="en-US" sz="1600" dirty="0"/>
          </a:p>
        </p:txBody>
      </p:sp>
      <p:sp>
        <p:nvSpPr>
          <p:cNvPr id="17" name="Shape 14"/>
          <p:cNvSpPr/>
          <p:nvPr/>
        </p:nvSpPr>
        <p:spPr>
          <a:xfrm>
            <a:off x="548640" y="4946904"/>
            <a:ext cx="64008" cy="438912"/>
          </a:xfrm>
          <a:prstGeom prst="rect">
            <a:avLst/>
          </a:prstGeom>
          <a:solidFill>
            <a:srgbClr val="128C7E"/>
          </a:solidFill>
          <a:ln/>
        </p:spPr>
      </p:sp>
      <p:sp>
        <p:nvSpPr>
          <p:cNvPr id="18" name="Text 15"/>
          <p:cNvSpPr txBox="1"/>
          <p:nvPr/>
        </p:nvSpPr>
        <p:spPr>
          <a:xfrm>
            <a:off x="804672" y="4892040"/>
            <a:ext cx="5120640" cy="548640"/>
          </a:xfrm>
          <a:prstGeom prst="rect">
            <a:avLst/>
          </a:prstGeom>
          <a:noFill/>
          <a:ln/>
        </p:spPr>
        <p:txBody>
          <a:bodyPr wrap="square" lIns="0" tIns="0" rIns="0" bIns="0" rtlCol="0" anchor="ctr"/>
          <a:lstStyle/>
          <a:p>
            <a:pPr indent="0" marL="0">
              <a:buNone/>
            </a:pPr>
            <a:r>
              <a:rPr lang="en-US" sz="2100" b="1" dirty="0">
                <a:solidFill>
                  <a:srgbClr val="2B2340"/>
                </a:solidFill>
                <a:latin typeface="Cambria Math" pitchFamily="34" charset="0"/>
                <a:ea typeface="Cambria Math" pitchFamily="34" charset="-122"/>
                <a:cs typeface="Cambria Math" pitchFamily="34" charset="-120"/>
              </a:rPr>
              <a:t>c</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 = f</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 ⊙ c</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t-1</a:t>
            </a:r>
            <a:pPr indent="0" marL="0">
              <a:buNone/>
            </a:pPr>
            <a:r>
              <a:rPr lang="en-US" sz="2100" b="1" dirty="0">
                <a:solidFill>
                  <a:srgbClr val="2B2340"/>
                </a:solidFill>
                <a:latin typeface="Cambria Math" pitchFamily="34" charset="0"/>
                <a:ea typeface="Cambria Math" pitchFamily="34" charset="-122"/>
                <a:cs typeface="Cambria Math" pitchFamily="34" charset="-120"/>
              </a:rPr>
              <a:t> + i</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 ⊙ c˜</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endParaRPr lang="en-US" sz="2100" dirty="0"/>
          </a:p>
        </p:txBody>
      </p:sp>
      <p:sp>
        <p:nvSpPr>
          <p:cNvPr id="19" name="Text 16"/>
          <p:cNvSpPr txBox="1"/>
          <p:nvPr/>
        </p:nvSpPr>
        <p:spPr>
          <a:xfrm>
            <a:off x="6126480" y="4892040"/>
            <a:ext cx="5486400" cy="548640"/>
          </a:xfrm>
          <a:prstGeom prst="rect">
            <a:avLst/>
          </a:prstGeom>
          <a:noFill/>
          <a:ln/>
        </p:spPr>
        <p:txBody>
          <a:bodyPr wrap="square" lIns="0" tIns="0" rIns="0" bIns="0" rtlCol="0" anchor="ctr"/>
          <a:lstStyle/>
          <a:p>
            <a:pPr indent="0" marL="0">
              <a:lnSpc>
                <a:spcPts val="2100"/>
              </a:lnSpc>
              <a:buNone/>
            </a:pPr>
            <a:r>
              <a:rPr lang="en-US" sz="1600" dirty="0">
                <a:solidFill>
                  <a:srgbClr val="6E6879"/>
                </a:solidFill>
                <a:latin typeface="Calibri" pitchFamily="34" charset="0"/>
                <a:ea typeface="Calibri" pitchFamily="34" charset="-122"/>
                <a:cs typeface="Calibri" pitchFamily="34" charset="-120"/>
              </a:rPr>
              <a:t>The cell state is updated — this is the running “memory” carried across the whole ECG sequence.</a:t>
            </a:r>
            <a:endParaRPr lang="en-US" sz="1600" dirty="0"/>
          </a:p>
        </p:txBody>
      </p:sp>
      <p:sp>
        <p:nvSpPr>
          <p:cNvPr id="20" name="Shape 17"/>
          <p:cNvSpPr/>
          <p:nvPr/>
        </p:nvSpPr>
        <p:spPr>
          <a:xfrm>
            <a:off x="548640" y="5678424"/>
            <a:ext cx="64008" cy="438912"/>
          </a:xfrm>
          <a:prstGeom prst="rect">
            <a:avLst/>
          </a:prstGeom>
          <a:solidFill>
            <a:srgbClr val="128C7E"/>
          </a:solidFill>
          <a:ln/>
        </p:spPr>
      </p:sp>
      <p:sp>
        <p:nvSpPr>
          <p:cNvPr id="21" name="Text 18"/>
          <p:cNvSpPr txBox="1"/>
          <p:nvPr/>
        </p:nvSpPr>
        <p:spPr>
          <a:xfrm>
            <a:off x="804672" y="5623560"/>
            <a:ext cx="5120640" cy="548640"/>
          </a:xfrm>
          <a:prstGeom prst="rect">
            <a:avLst/>
          </a:prstGeom>
          <a:noFill/>
          <a:ln/>
        </p:spPr>
        <p:txBody>
          <a:bodyPr wrap="square" lIns="0" tIns="0" rIns="0" bIns="0" rtlCol="0" anchor="ctr"/>
          <a:lstStyle/>
          <a:p>
            <a:pPr indent="0" marL="0">
              <a:buNone/>
            </a:pPr>
            <a:r>
              <a:rPr lang="en-US" sz="2100" b="1" dirty="0">
                <a:solidFill>
                  <a:srgbClr val="2B2340"/>
                </a:solidFill>
                <a:latin typeface="Cambria Math" pitchFamily="34" charset="0"/>
                <a:ea typeface="Cambria Math" pitchFamily="34" charset="-122"/>
                <a:cs typeface="Cambria Math" pitchFamily="34" charset="-120"/>
              </a:rPr>
              <a:t>h</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 = o</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 ⊙ tanh(c</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a:t>
            </a:r>
            <a:endParaRPr lang="en-US" sz="2100" dirty="0"/>
          </a:p>
        </p:txBody>
      </p:sp>
      <p:sp>
        <p:nvSpPr>
          <p:cNvPr id="22" name="Text 19"/>
          <p:cNvSpPr txBox="1"/>
          <p:nvPr/>
        </p:nvSpPr>
        <p:spPr>
          <a:xfrm>
            <a:off x="6126480" y="5623560"/>
            <a:ext cx="5486400" cy="548640"/>
          </a:xfrm>
          <a:prstGeom prst="rect">
            <a:avLst/>
          </a:prstGeom>
          <a:noFill/>
          <a:ln/>
        </p:spPr>
        <p:txBody>
          <a:bodyPr wrap="square" lIns="0" tIns="0" rIns="0" bIns="0" rtlCol="0" anchor="ctr"/>
          <a:lstStyle/>
          <a:p>
            <a:pPr indent="0" marL="0">
              <a:lnSpc>
                <a:spcPts val="2100"/>
              </a:lnSpc>
              <a:buNone/>
            </a:pPr>
            <a:r>
              <a:rPr lang="en-US" sz="1600" dirty="0">
                <a:solidFill>
                  <a:srgbClr val="6E6879"/>
                </a:solidFill>
                <a:latin typeface="Calibri" pitchFamily="34" charset="0"/>
                <a:ea typeface="Calibri" pitchFamily="34" charset="-122"/>
                <a:cs typeface="Calibri" pitchFamily="34" charset="-120"/>
              </a:rPr>
              <a:t>Output gate shapes the memory into the hidden state passed to the next time-step and the classifier.</a:t>
            </a:r>
            <a:endParaRPr lang="en-US" sz="1600" dirty="0"/>
          </a:p>
        </p:txBody>
      </p:sp>
      <p:sp>
        <p:nvSpPr>
          <p:cNvPr id="23" name="Text 20"/>
          <p:cNvSpPr txBox="1"/>
          <p:nvPr/>
        </p:nvSpPr>
        <p:spPr>
          <a:xfrm>
            <a:off x="11368735" y="6355080"/>
            <a:ext cx="548640" cy="274320"/>
          </a:xfrm>
          <a:prstGeom prst="rect">
            <a:avLst/>
          </a:prstGeom>
          <a:noFill/>
          <a:ln/>
        </p:spPr>
        <p:txBody>
          <a:bodyPr wrap="square" lIns="0" tIns="0" rIns="0" bIns="0" rtlCol="0" anchor="ctr"/>
          <a:lstStyle/>
          <a:p>
            <a:pPr algn="r" indent="0" marL="0">
              <a:buNone/>
            </a:pPr>
            <a:r>
              <a:rPr lang="en-US" sz="1100" dirty="0">
                <a:solidFill>
                  <a:srgbClr val="6E6879"/>
                </a:solidFill>
                <a:latin typeface="Calibri" pitchFamily="34" charset="0"/>
                <a:ea typeface="Calibri" pitchFamily="34" charset="-122"/>
                <a:cs typeface="Calibri"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AFC"/>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65760"/>
          </a:xfrm>
          <a:prstGeom prst="rect">
            <a:avLst/>
          </a:prstGeom>
          <a:noFill/>
          <a:ln/>
        </p:spPr>
        <p:txBody>
          <a:bodyPr wrap="square" lIns="0" tIns="0" rIns="0" bIns="0" rtlCol="0" anchor="ctr"/>
          <a:lstStyle/>
          <a:p>
            <a:pPr indent="0" marL="0">
              <a:buNone/>
            </a:pPr>
            <a:r>
              <a:rPr lang="en-US" sz="1400" b="1" spc="200" kern="0" dirty="0">
                <a:solidFill>
                  <a:srgbClr val="E8A72C"/>
                </a:solidFill>
                <a:latin typeface="Calibri" pitchFamily="34" charset="0"/>
                <a:ea typeface="Calibri" pitchFamily="34" charset="-122"/>
                <a:cs typeface="Calibri" pitchFamily="34" charset="-120"/>
              </a:rPr>
              <a:t>ALGORITHM 3 OF 4 — CONCEPT</a:t>
            </a:r>
            <a:endParaRPr lang="en-US" sz="14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2B2340"/>
                </a:solidFill>
                <a:latin typeface="Cambria" pitchFamily="34" charset="0"/>
                <a:ea typeface="Cambria" pitchFamily="34" charset="-122"/>
                <a:cs typeface="Cambria" pitchFamily="34" charset="-120"/>
              </a:rPr>
              <a:t>Gated Recurrent Unit (GRU)</a:t>
            </a:r>
            <a:endParaRPr lang="en-US" sz="3000" dirty="0"/>
          </a:p>
        </p:txBody>
      </p:sp>
      <p:sp>
        <p:nvSpPr>
          <p:cNvPr id="4" name="Shape 2"/>
          <p:cNvSpPr/>
          <p:nvPr/>
        </p:nvSpPr>
        <p:spPr>
          <a:xfrm>
            <a:off x="8321040" y="2283060"/>
            <a:ext cx="3566160" cy="3023400"/>
          </a:xfrm>
          <a:prstGeom prst="roundRect">
            <a:avLst>
              <a:gd name="adj" fmla="val 3629"/>
            </a:avLst>
          </a:prstGeom>
          <a:solidFill>
            <a:srgbClr val="FFFFFF"/>
          </a:solidFill>
          <a:ln w="15875">
            <a:solidFill>
              <a:srgbClr val="E7E1F0"/>
            </a:solidFill>
            <a:prstDash val="solid"/>
          </a:ln>
          <a:effectLst>
            <a:outerShdw sx="100000" sy="100000" kx="0" ky="0" algn="bl" rotWithShape="0" blurRad="152400" dist="38100" dir="5400000">
              <a:srgbClr val="1A1A2E">
                <a:alpha val="16000"/>
              </a:srgbClr>
            </a:outerShdw>
          </a:effectLst>
        </p:spPr>
      </p:sp>
      <p:sp>
        <p:nvSpPr>
          <p:cNvPr id="5" name="Shape 3"/>
          <p:cNvSpPr/>
          <p:nvPr/>
        </p:nvSpPr>
        <p:spPr>
          <a:xfrm>
            <a:off x="8321040" y="2283060"/>
            <a:ext cx="3566160" cy="82296"/>
          </a:xfrm>
          <a:prstGeom prst="rect">
            <a:avLst/>
          </a:prstGeom>
          <a:solidFill>
            <a:srgbClr val="E8A72C"/>
          </a:solidFill>
          <a:ln/>
        </p:spPr>
      </p:sp>
      <p:pic>
        <p:nvPicPr>
          <p:cNvPr id="6" name="Image 0" descr="/home/claude/ecg_deck/diagram_gru.png">    </p:cNvPr>
          <p:cNvPicPr>
            <a:picLocks noChangeAspect="1"/>
          </p:cNvPicPr>
          <p:nvPr/>
        </p:nvPicPr>
        <p:blipFill>
          <a:blip r:embed="rId1"/>
          <a:stretch>
            <a:fillRect/>
          </a:stretch>
        </p:blipFill>
        <p:spPr>
          <a:xfrm>
            <a:off x="8595360" y="2557380"/>
            <a:ext cx="3017520" cy="2474760"/>
          </a:xfrm>
          <a:prstGeom prst="rect">
            <a:avLst/>
          </a:prstGeom>
        </p:spPr>
      </p:pic>
      <p:sp>
        <p:nvSpPr>
          <p:cNvPr id="7" name="Shape 4"/>
          <p:cNvSpPr/>
          <p:nvPr/>
        </p:nvSpPr>
        <p:spPr>
          <a:xfrm>
            <a:off x="548640" y="1737360"/>
            <a:ext cx="64008" cy="960120"/>
          </a:xfrm>
          <a:prstGeom prst="rect">
            <a:avLst/>
          </a:prstGeom>
          <a:solidFill>
            <a:srgbClr val="E8A72C"/>
          </a:solidFill>
          <a:ln/>
        </p:spPr>
      </p:sp>
      <p:sp>
        <p:nvSpPr>
          <p:cNvPr id="8" name="Text 5"/>
          <p:cNvSpPr txBox="1"/>
          <p:nvPr/>
        </p:nvSpPr>
        <p:spPr>
          <a:xfrm>
            <a:off x="804672" y="1673352"/>
            <a:ext cx="7379208" cy="292608"/>
          </a:xfrm>
          <a:prstGeom prst="rect">
            <a:avLst/>
          </a:prstGeom>
          <a:noFill/>
          <a:ln/>
        </p:spPr>
        <p:txBody>
          <a:bodyPr wrap="square" lIns="0" tIns="0" rIns="0" bIns="0" rtlCol="0" anchor="ctr"/>
          <a:lstStyle/>
          <a:p>
            <a:pPr indent="0" marL="0">
              <a:buNone/>
            </a:pPr>
            <a:r>
              <a:rPr lang="en-US" sz="1400" b="1" spc="100" kern="0" dirty="0">
                <a:solidFill>
                  <a:srgbClr val="E8A72C"/>
                </a:solidFill>
                <a:latin typeface="Calibri" pitchFamily="34" charset="0"/>
                <a:ea typeface="Calibri" pitchFamily="34" charset="-122"/>
                <a:cs typeface="Calibri" pitchFamily="34" charset="-120"/>
              </a:rPr>
              <a:t>BASIC IDEA</a:t>
            </a:r>
            <a:endParaRPr lang="en-US" sz="1400" dirty="0"/>
          </a:p>
        </p:txBody>
      </p:sp>
      <p:sp>
        <p:nvSpPr>
          <p:cNvPr id="9" name="Text 6"/>
          <p:cNvSpPr txBox="1"/>
          <p:nvPr/>
        </p:nvSpPr>
        <p:spPr>
          <a:xfrm>
            <a:off x="804672" y="2011680"/>
            <a:ext cx="7379208" cy="1005840"/>
          </a:xfrm>
          <a:prstGeom prst="rect">
            <a:avLst/>
          </a:prstGeom>
          <a:noFill/>
          <a:ln/>
        </p:spPr>
        <p:txBody>
          <a:bodyPr wrap="square" lIns="0" tIns="0" rIns="0" bIns="0" rtlCol="0" anchor="ctr"/>
          <a:lstStyle/>
          <a:p>
            <a:pPr indent="0" marL="0">
              <a:lnSpc>
                <a:spcPts val="2300"/>
              </a:lnSpc>
              <a:buNone/>
            </a:pPr>
            <a:r>
              <a:rPr lang="en-US" sz="1800" dirty="0">
                <a:solidFill>
                  <a:srgbClr val="2B2340"/>
                </a:solidFill>
                <a:latin typeface="Calibri" pitchFamily="34" charset="0"/>
                <a:ea typeface="Calibri" pitchFamily="34" charset="-122"/>
                <a:cs typeface="Calibri" pitchFamily="34" charset="-120"/>
              </a:rPr>
              <a:t>A streamlined version of LSTM: it merges the forget and input gates into one “update gate” and drops the separate cell state — same memory idea, fewer moving parts.</a:t>
            </a:r>
            <a:endParaRPr lang="en-US" sz="1800" dirty="0"/>
          </a:p>
        </p:txBody>
      </p:sp>
      <p:sp>
        <p:nvSpPr>
          <p:cNvPr id="10" name="Shape 7"/>
          <p:cNvSpPr/>
          <p:nvPr/>
        </p:nvSpPr>
        <p:spPr>
          <a:xfrm>
            <a:off x="548640" y="3364992"/>
            <a:ext cx="64008" cy="960120"/>
          </a:xfrm>
          <a:prstGeom prst="rect">
            <a:avLst/>
          </a:prstGeom>
          <a:solidFill>
            <a:srgbClr val="E8A72C"/>
          </a:solidFill>
          <a:ln/>
        </p:spPr>
      </p:sp>
      <p:sp>
        <p:nvSpPr>
          <p:cNvPr id="11" name="Text 8"/>
          <p:cNvSpPr txBox="1"/>
          <p:nvPr/>
        </p:nvSpPr>
        <p:spPr>
          <a:xfrm>
            <a:off x="804672" y="3300984"/>
            <a:ext cx="7379208" cy="292608"/>
          </a:xfrm>
          <a:prstGeom prst="rect">
            <a:avLst/>
          </a:prstGeom>
          <a:noFill/>
          <a:ln/>
        </p:spPr>
        <p:txBody>
          <a:bodyPr wrap="square" lIns="0" tIns="0" rIns="0" bIns="0" rtlCol="0" anchor="ctr"/>
          <a:lstStyle/>
          <a:p>
            <a:pPr indent="0" marL="0">
              <a:buNone/>
            </a:pPr>
            <a:r>
              <a:rPr lang="en-US" sz="1400" b="1" spc="100" kern="0" dirty="0">
                <a:solidFill>
                  <a:srgbClr val="E8A72C"/>
                </a:solidFill>
                <a:latin typeface="Calibri" pitchFamily="34" charset="0"/>
                <a:ea typeface="Calibri" pitchFamily="34" charset="-122"/>
                <a:cs typeface="Calibri" pitchFamily="34" charset="-120"/>
              </a:rPr>
              <a:t>WHY IT FITS THIS DATASET</a:t>
            </a:r>
            <a:endParaRPr lang="en-US" sz="1400" dirty="0"/>
          </a:p>
        </p:txBody>
      </p:sp>
      <p:sp>
        <p:nvSpPr>
          <p:cNvPr id="12" name="Text 9"/>
          <p:cNvSpPr txBox="1"/>
          <p:nvPr/>
        </p:nvSpPr>
        <p:spPr>
          <a:xfrm>
            <a:off x="804672" y="3639312"/>
            <a:ext cx="7379208" cy="1005840"/>
          </a:xfrm>
          <a:prstGeom prst="rect">
            <a:avLst/>
          </a:prstGeom>
          <a:noFill/>
          <a:ln/>
        </p:spPr>
        <p:txBody>
          <a:bodyPr wrap="square" lIns="0" tIns="0" rIns="0" bIns="0" rtlCol="0" anchor="ctr"/>
          <a:lstStyle/>
          <a:p>
            <a:pPr indent="0" marL="0">
              <a:lnSpc>
                <a:spcPts val="2300"/>
              </a:lnSpc>
              <a:buNone/>
            </a:pPr>
            <a:r>
              <a:rPr lang="en-US" sz="1800" dirty="0">
                <a:solidFill>
                  <a:srgbClr val="2B2340"/>
                </a:solidFill>
                <a:latin typeface="Calibri" pitchFamily="34" charset="0"/>
                <a:ea typeface="Calibri" pitchFamily="34" charset="-122"/>
                <a:cs typeface="Calibri" pitchFamily="34" charset="-120"/>
              </a:rPr>
              <a:t>With 100k+ heartbeats to train on, a lighter recurrent model that trains faster while still tracking rhythm gives a practical speed-vs-accuracy comparison to test directly against LSTM.</a:t>
            </a:r>
            <a:endParaRPr lang="en-US" sz="1800" dirty="0"/>
          </a:p>
        </p:txBody>
      </p:sp>
      <p:sp>
        <p:nvSpPr>
          <p:cNvPr id="13" name="Shape 10"/>
          <p:cNvSpPr/>
          <p:nvPr/>
        </p:nvSpPr>
        <p:spPr>
          <a:xfrm>
            <a:off x="548640" y="4992624"/>
            <a:ext cx="64008" cy="960120"/>
          </a:xfrm>
          <a:prstGeom prst="rect">
            <a:avLst/>
          </a:prstGeom>
          <a:solidFill>
            <a:srgbClr val="E8A72C"/>
          </a:solidFill>
          <a:ln/>
        </p:spPr>
      </p:sp>
      <p:sp>
        <p:nvSpPr>
          <p:cNvPr id="14" name="Text 11"/>
          <p:cNvSpPr txBox="1"/>
          <p:nvPr/>
        </p:nvSpPr>
        <p:spPr>
          <a:xfrm>
            <a:off x="804672" y="4928616"/>
            <a:ext cx="7379208" cy="292608"/>
          </a:xfrm>
          <a:prstGeom prst="rect">
            <a:avLst/>
          </a:prstGeom>
          <a:noFill/>
          <a:ln/>
        </p:spPr>
        <p:txBody>
          <a:bodyPr wrap="square" lIns="0" tIns="0" rIns="0" bIns="0" rtlCol="0" anchor="ctr"/>
          <a:lstStyle/>
          <a:p>
            <a:pPr indent="0" marL="0">
              <a:buNone/>
            </a:pPr>
            <a:r>
              <a:rPr lang="en-US" sz="1400" b="1" spc="100" kern="0" dirty="0">
                <a:solidFill>
                  <a:srgbClr val="E8A72C"/>
                </a:solidFill>
                <a:latin typeface="Calibri" pitchFamily="34" charset="0"/>
                <a:ea typeface="Calibri" pitchFamily="34" charset="-122"/>
                <a:cs typeface="Calibri" pitchFamily="34" charset="-120"/>
              </a:rPr>
              <a:t>CORE LOGIC</a:t>
            </a:r>
            <a:endParaRPr lang="en-US" sz="1400" dirty="0"/>
          </a:p>
        </p:txBody>
      </p:sp>
      <p:sp>
        <p:nvSpPr>
          <p:cNvPr id="15" name="Text 12"/>
          <p:cNvSpPr txBox="1"/>
          <p:nvPr/>
        </p:nvSpPr>
        <p:spPr>
          <a:xfrm>
            <a:off x="804672" y="5266944"/>
            <a:ext cx="7379208" cy="1005840"/>
          </a:xfrm>
          <a:prstGeom prst="rect">
            <a:avLst/>
          </a:prstGeom>
          <a:noFill/>
          <a:ln/>
        </p:spPr>
        <p:txBody>
          <a:bodyPr wrap="square" lIns="0" tIns="0" rIns="0" bIns="0" rtlCol="0" anchor="ctr"/>
          <a:lstStyle/>
          <a:p>
            <a:pPr indent="0" marL="0">
              <a:lnSpc>
                <a:spcPts val="2300"/>
              </a:lnSpc>
              <a:buNone/>
            </a:pPr>
            <a:r>
              <a:rPr lang="en-US" sz="1800" dirty="0">
                <a:solidFill>
                  <a:srgbClr val="2B2340"/>
                </a:solidFill>
                <a:latin typeface="Calibri" pitchFamily="34" charset="0"/>
                <a:ea typeface="Calibri" pitchFamily="34" charset="-122"/>
                <a:cs typeface="Calibri" pitchFamily="34" charset="-120"/>
              </a:rPr>
              <a:t>An update gate decides how much of the past to carry forward, and a reset gate decides how much past information to ignore — together producing the next hidden state in a single step.</a:t>
            </a:r>
            <a:endParaRPr lang="en-US" sz="1800" dirty="0"/>
          </a:p>
        </p:txBody>
      </p:sp>
      <p:sp>
        <p:nvSpPr>
          <p:cNvPr id="16" name="Text 13"/>
          <p:cNvSpPr txBox="1"/>
          <p:nvPr/>
        </p:nvSpPr>
        <p:spPr>
          <a:xfrm>
            <a:off x="11368735" y="6355080"/>
            <a:ext cx="548640" cy="274320"/>
          </a:xfrm>
          <a:prstGeom prst="rect">
            <a:avLst/>
          </a:prstGeom>
          <a:noFill/>
          <a:ln/>
        </p:spPr>
        <p:txBody>
          <a:bodyPr wrap="square" lIns="0" tIns="0" rIns="0" bIns="0" rtlCol="0" anchor="ctr"/>
          <a:lstStyle/>
          <a:p>
            <a:pPr algn="r" indent="0" marL="0">
              <a:buNone/>
            </a:pPr>
            <a:r>
              <a:rPr lang="en-US" sz="1100" dirty="0">
                <a:solidFill>
                  <a:srgbClr val="6E6879"/>
                </a:solidFill>
                <a:latin typeface="Calibri" pitchFamily="34" charset="0"/>
                <a:ea typeface="Calibri" pitchFamily="34" charset="-122"/>
                <a:cs typeface="Calibri"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AFC"/>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65760"/>
          </a:xfrm>
          <a:prstGeom prst="rect">
            <a:avLst/>
          </a:prstGeom>
          <a:noFill/>
          <a:ln/>
        </p:spPr>
        <p:txBody>
          <a:bodyPr wrap="square" lIns="0" tIns="0" rIns="0" bIns="0" rtlCol="0" anchor="ctr"/>
          <a:lstStyle/>
          <a:p>
            <a:pPr indent="0" marL="0">
              <a:buNone/>
            </a:pPr>
            <a:r>
              <a:rPr lang="en-US" sz="1400" b="1" spc="200" kern="0" dirty="0">
                <a:solidFill>
                  <a:srgbClr val="E8A72C"/>
                </a:solidFill>
                <a:latin typeface="Calibri" pitchFamily="34" charset="0"/>
                <a:ea typeface="Calibri" pitchFamily="34" charset="-122"/>
                <a:cs typeface="Calibri" pitchFamily="34" charset="-120"/>
              </a:rPr>
              <a:t>ALGORITHM 3 OF 4 — THE MATH</a:t>
            </a:r>
            <a:endParaRPr lang="en-US" sz="1400" dirty="0"/>
          </a:p>
        </p:txBody>
      </p:sp>
      <p:sp>
        <p:nvSpPr>
          <p:cNvPr id="3" name="Text 1"/>
          <p:cNvSpPr txBox="1"/>
          <p:nvPr/>
        </p:nvSpPr>
        <p:spPr>
          <a:xfrm>
            <a:off x="548640" y="777240"/>
            <a:ext cx="7863840" cy="685800"/>
          </a:xfrm>
          <a:prstGeom prst="rect">
            <a:avLst/>
          </a:prstGeom>
          <a:noFill/>
          <a:ln/>
        </p:spPr>
        <p:txBody>
          <a:bodyPr wrap="square" lIns="0" tIns="0" rIns="0" bIns="0" rtlCol="0" anchor="ctr"/>
          <a:lstStyle/>
          <a:p>
            <a:pPr indent="0" marL="0">
              <a:buNone/>
            </a:pPr>
            <a:r>
              <a:rPr lang="en-US" sz="2700" b="1" dirty="0">
                <a:solidFill>
                  <a:srgbClr val="2B2340"/>
                </a:solidFill>
                <a:latin typeface="Cambria" pitchFamily="34" charset="0"/>
                <a:ea typeface="Cambria" pitchFamily="34" charset="-122"/>
                <a:cs typeface="Cambria" pitchFamily="34" charset="-120"/>
              </a:rPr>
              <a:t>Gated Recurrent Unit (GRU)</a:t>
            </a:r>
            <a:endParaRPr lang="en-US" sz="2700" dirty="0"/>
          </a:p>
        </p:txBody>
      </p:sp>
      <p:sp>
        <p:nvSpPr>
          <p:cNvPr id="4" name="Text 2"/>
          <p:cNvSpPr txBox="1"/>
          <p:nvPr/>
        </p:nvSpPr>
        <p:spPr>
          <a:xfrm>
            <a:off x="548640" y="1371600"/>
            <a:ext cx="8229600" cy="320040"/>
          </a:xfrm>
          <a:prstGeom prst="rect">
            <a:avLst/>
          </a:prstGeom>
          <a:noFill/>
          <a:ln/>
        </p:spPr>
        <p:txBody>
          <a:bodyPr wrap="square" lIns="0" tIns="0" rIns="0" bIns="0" rtlCol="0" anchor="ctr"/>
          <a:lstStyle/>
          <a:p>
            <a:pPr indent="0" marL="0">
              <a:buNone/>
            </a:pPr>
            <a:r>
              <a:rPr lang="en-US" sz="1400" i="1" dirty="0">
                <a:solidFill>
                  <a:srgbClr val="6E6879"/>
                </a:solidFill>
                <a:latin typeface="Calibri" pitchFamily="34" charset="0"/>
                <a:ea typeface="Calibri" pitchFamily="34" charset="-122"/>
                <a:cs typeface="Calibri" pitchFamily="34" charset="-120"/>
              </a:rPr>
              <a:t>The equations actually implemented for this model</a:t>
            </a:r>
            <a:endParaRPr lang="en-US" sz="1400" dirty="0"/>
          </a:p>
        </p:txBody>
      </p:sp>
      <p:sp>
        <p:nvSpPr>
          <p:cNvPr id="5" name="Shape 3"/>
          <p:cNvSpPr/>
          <p:nvPr/>
        </p:nvSpPr>
        <p:spPr>
          <a:xfrm>
            <a:off x="9319243" y="274320"/>
            <a:ext cx="2667035" cy="2286000"/>
          </a:xfrm>
          <a:prstGeom prst="roundRect">
            <a:avLst>
              <a:gd name="adj" fmla="val 4800"/>
            </a:avLst>
          </a:prstGeom>
          <a:solidFill>
            <a:srgbClr val="FFFFFF"/>
          </a:solidFill>
          <a:ln w="15875">
            <a:solidFill>
              <a:srgbClr val="E7E1F0"/>
            </a:solidFill>
            <a:prstDash val="solid"/>
          </a:ln>
          <a:effectLst>
            <a:outerShdw sx="100000" sy="100000" kx="0" ky="0" algn="bl" rotWithShape="0" blurRad="152400" dist="38100" dir="5400000">
              <a:srgbClr val="1A1A2E">
                <a:alpha val="16000"/>
              </a:srgbClr>
            </a:outerShdw>
          </a:effectLst>
        </p:spPr>
      </p:sp>
      <p:sp>
        <p:nvSpPr>
          <p:cNvPr id="6" name="Shape 4"/>
          <p:cNvSpPr/>
          <p:nvPr/>
        </p:nvSpPr>
        <p:spPr>
          <a:xfrm>
            <a:off x="9319243" y="274320"/>
            <a:ext cx="2667035" cy="82296"/>
          </a:xfrm>
          <a:prstGeom prst="rect">
            <a:avLst/>
          </a:prstGeom>
          <a:solidFill>
            <a:srgbClr val="E8A72C"/>
          </a:solidFill>
          <a:ln/>
        </p:spPr>
      </p:sp>
      <p:pic>
        <p:nvPicPr>
          <p:cNvPr id="7" name="Image 0" descr="/home/claude/ecg_deck/diagram_gru.png">    </p:cNvPr>
          <p:cNvPicPr>
            <a:picLocks noChangeAspect="1"/>
          </p:cNvPicPr>
          <p:nvPr/>
        </p:nvPicPr>
        <p:blipFill>
          <a:blip r:embed="rId1"/>
          <a:stretch>
            <a:fillRect/>
          </a:stretch>
        </p:blipFill>
        <p:spPr>
          <a:xfrm>
            <a:off x="9593563" y="548640"/>
            <a:ext cx="2118395" cy="1737360"/>
          </a:xfrm>
          <a:prstGeom prst="rect">
            <a:avLst/>
          </a:prstGeom>
        </p:spPr>
      </p:pic>
      <p:sp>
        <p:nvSpPr>
          <p:cNvPr id="8" name="Shape 5"/>
          <p:cNvSpPr/>
          <p:nvPr/>
        </p:nvSpPr>
        <p:spPr>
          <a:xfrm>
            <a:off x="548640" y="2752344"/>
            <a:ext cx="64008" cy="621792"/>
          </a:xfrm>
          <a:prstGeom prst="rect">
            <a:avLst/>
          </a:prstGeom>
          <a:solidFill>
            <a:srgbClr val="E8A72C"/>
          </a:solidFill>
          <a:ln/>
        </p:spPr>
      </p:sp>
      <p:sp>
        <p:nvSpPr>
          <p:cNvPr id="9" name="Text 6"/>
          <p:cNvSpPr txBox="1"/>
          <p:nvPr/>
        </p:nvSpPr>
        <p:spPr>
          <a:xfrm>
            <a:off x="804672" y="2697480"/>
            <a:ext cx="5120640" cy="731520"/>
          </a:xfrm>
          <a:prstGeom prst="rect">
            <a:avLst/>
          </a:prstGeom>
          <a:noFill/>
          <a:ln/>
        </p:spPr>
        <p:txBody>
          <a:bodyPr wrap="square" lIns="0" tIns="0" rIns="0" bIns="0" rtlCol="0" anchor="ctr"/>
          <a:lstStyle/>
          <a:p>
            <a:pPr indent="0" marL="0">
              <a:buNone/>
            </a:pPr>
            <a:r>
              <a:rPr lang="en-US" sz="2100" b="1" dirty="0">
                <a:solidFill>
                  <a:srgbClr val="2B2340"/>
                </a:solidFill>
                <a:latin typeface="Cambria Math" pitchFamily="34" charset="0"/>
                <a:ea typeface="Cambria Math" pitchFamily="34" charset="-122"/>
                <a:cs typeface="Cambria Math" pitchFamily="34" charset="-120"/>
              </a:rPr>
              <a:t>z</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 = σ(W</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z</a:t>
            </a:r>
            <a:pPr indent="0" marL="0">
              <a:buNone/>
            </a:pPr>
            <a:r>
              <a:rPr lang="en-US" sz="2100" b="1" dirty="0">
                <a:solidFill>
                  <a:srgbClr val="2B2340"/>
                </a:solidFill>
                <a:latin typeface="Cambria Math" pitchFamily="34" charset="0"/>
                <a:ea typeface="Cambria Math" pitchFamily="34" charset="-122"/>
                <a:cs typeface="Cambria Math" pitchFamily="34" charset="-120"/>
              </a:rPr>
              <a:t> [h</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t-1</a:t>
            </a:r>
            <a:pPr indent="0" marL="0">
              <a:buNone/>
            </a:pPr>
            <a:r>
              <a:rPr lang="en-US" sz="2100" b="1" dirty="0">
                <a:solidFill>
                  <a:srgbClr val="2B2340"/>
                </a:solidFill>
                <a:latin typeface="Cambria Math" pitchFamily="34" charset="0"/>
                <a:ea typeface="Cambria Math" pitchFamily="34" charset="-122"/>
                <a:cs typeface="Cambria Math" pitchFamily="34" charset="-120"/>
              </a:rPr>
              <a:t>, x</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a:t>
            </a:r>
            <a:endParaRPr lang="en-US" sz="2100" dirty="0"/>
          </a:p>
        </p:txBody>
      </p:sp>
      <p:sp>
        <p:nvSpPr>
          <p:cNvPr id="10" name="Text 7"/>
          <p:cNvSpPr txBox="1"/>
          <p:nvPr/>
        </p:nvSpPr>
        <p:spPr>
          <a:xfrm>
            <a:off x="6126480" y="2697480"/>
            <a:ext cx="5486400" cy="731520"/>
          </a:xfrm>
          <a:prstGeom prst="rect">
            <a:avLst/>
          </a:prstGeom>
          <a:noFill/>
          <a:ln/>
        </p:spPr>
        <p:txBody>
          <a:bodyPr wrap="square" lIns="0" tIns="0" rIns="0" bIns="0" rtlCol="0" anchor="ctr"/>
          <a:lstStyle/>
          <a:p>
            <a:pPr indent="0" marL="0">
              <a:lnSpc>
                <a:spcPts val="2100"/>
              </a:lnSpc>
              <a:buNone/>
            </a:pPr>
            <a:r>
              <a:rPr lang="en-US" sz="1600" dirty="0">
                <a:solidFill>
                  <a:srgbClr val="6E6879"/>
                </a:solidFill>
                <a:latin typeface="Calibri" pitchFamily="34" charset="0"/>
                <a:ea typeface="Calibri" pitchFamily="34" charset="-122"/>
                <a:cs typeface="Calibri" pitchFamily="34" charset="-120"/>
              </a:rPr>
              <a:t>Update gate: decides how much of the previous hidden state to keep for this step.</a:t>
            </a:r>
            <a:endParaRPr lang="en-US" sz="1600" dirty="0"/>
          </a:p>
        </p:txBody>
      </p:sp>
      <p:sp>
        <p:nvSpPr>
          <p:cNvPr id="11" name="Shape 8"/>
          <p:cNvSpPr/>
          <p:nvPr/>
        </p:nvSpPr>
        <p:spPr>
          <a:xfrm>
            <a:off x="548640" y="3666744"/>
            <a:ext cx="64008" cy="621792"/>
          </a:xfrm>
          <a:prstGeom prst="rect">
            <a:avLst/>
          </a:prstGeom>
          <a:solidFill>
            <a:srgbClr val="E8A72C"/>
          </a:solidFill>
          <a:ln/>
        </p:spPr>
      </p:sp>
      <p:sp>
        <p:nvSpPr>
          <p:cNvPr id="12" name="Text 9"/>
          <p:cNvSpPr txBox="1"/>
          <p:nvPr/>
        </p:nvSpPr>
        <p:spPr>
          <a:xfrm>
            <a:off x="804672" y="3611880"/>
            <a:ext cx="5120640" cy="731520"/>
          </a:xfrm>
          <a:prstGeom prst="rect">
            <a:avLst/>
          </a:prstGeom>
          <a:noFill/>
          <a:ln/>
        </p:spPr>
        <p:txBody>
          <a:bodyPr wrap="square" lIns="0" tIns="0" rIns="0" bIns="0" rtlCol="0" anchor="ctr"/>
          <a:lstStyle/>
          <a:p>
            <a:pPr indent="0" marL="0">
              <a:buNone/>
            </a:pPr>
            <a:r>
              <a:rPr lang="en-US" sz="2100" b="1" dirty="0">
                <a:solidFill>
                  <a:srgbClr val="2B2340"/>
                </a:solidFill>
                <a:latin typeface="Cambria Math" pitchFamily="34" charset="0"/>
                <a:ea typeface="Cambria Math" pitchFamily="34" charset="-122"/>
                <a:cs typeface="Cambria Math" pitchFamily="34" charset="-120"/>
              </a:rPr>
              <a:t>r</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 = σ(W</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r</a:t>
            </a:r>
            <a:pPr indent="0" marL="0">
              <a:buNone/>
            </a:pPr>
            <a:r>
              <a:rPr lang="en-US" sz="2100" b="1" dirty="0">
                <a:solidFill>
                  <a:srgbClr val="2B2340"/>
                </a:solidFill>
                <a:latin typeface="Cambria Math" pitchFamily="34" charset="0"/>
                <a:ea typeface="Cambria Math" pitchFamily="34" charset="-122"/>
                <a:cs typeface="Cambria Math" pitchFamily="34" charset="-120"/>
              </a:rPr>
              <a:t> [h</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t-1</a:t>
            </a:r>
            <a:pPr indent="0" marL="0">
              <a:buNone/>
            </a:pPr>
            <a:r>
              <a:rPr lang="en-US" sz="2100" b="1" dirty="0">
                <a:solidFill>
                  <a:srgbClr val="2B2340"/>
                </a:solidFill>
                <a:latin typeface="Cambria Math" pitchFamily="34" charset="0"/>
                <a:ea typeface="Cambria Math" pitchFamily="34" charset="-122"/>
                <a:cs typeface="Cambria Math" pitchFamily="34" charset="-120"/>
              </a:rPr>
              <a:t>, x</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a:t>
            </a:r>
            <a:endParaRPr lang="en-US" sz="2100" dirty="0"/>
          </a:p>
        </p:txBody>
      </p:sp>
      <p:sp>
        <p:nvSpPr>
          <p:cNvPr id="13" name="Text 10"/>
          <p:cNvSpPr txBox="1"/>
          <p:nvPr/>
        </p:nvSpPr>
        <p:spPr>
          <a:xfrm>
            <a:off x="6126480" y="3611880"/>
            <a:ext cx="5486400" cy="731520"/>
          </a:xfrm>
          <a:prstGeom prst="rect">
            <a:avLst/>
          </a:prstGeom>
          <a:noFill/>
          <a:ln/>
        </p:spPr>
        <p:txBody>
          <a:bodyPr wrap="square" lIns="0" tIns="0" rIns="0" bIns="0" rtlCol="0" anchor="ctr"/>
          <a:lstStyle/>
          <a:p>
            <a:pPr indent="0" marL="0">
              <a:lnSpc>
                <a:spcPts val="2100"/>
              </a:lnSpc>
              <a:buNone/>
            </a:pPr>
            <a:r>
              <a:rPr lang="en-US" sz="1600" dirty="0">
                <a:solidFill>
                  <a:srgbClr val="6E6879"/>
                </a:solidFill>
                <a:latin typeface="Calibri" pitchFamily="34" charset="0"/>
                <a:ea typeface="Calibri" pitchFamily="34" charset="-122"/>
                <a:cs typeface="Calibri" pitchFamily="34" charset="-120"/>
              </a:rPr>
              <a:t>Reset gate: decides how much past information to ignore when forming the new candidate.</a:t>
            </a:r>
            <a:endParaRPr lang="en-US" sz="1600" dirty="0"/>
          </a:p>
        </p:txBody>
      </p:sp>
      <p:sp>
        <p:nvSpPr>
          <p:cNvPr id="14" name="Shape 11"/>
          <p:cNvSpPr/>
          <p:nvPr/>
        </p:nvSpPr>
        <p:spPr>
          <a:xfrm>
            <a:off x="548640" y="4581144"/>
            <a:ext cx="64008" cy="621792"/>
          </a:xfrm>
          <a:prstGeom prst="rect">
            <a:avLst/>
          </a:prstGeom>
          <a:solidFill>
            <a:srgbClr val="E8A72C"/>
          </a:solidFill>
          <a:ln/>
        </p:spPr>
      </p:sp>
      <p:sp>
        <p:nvSpPr>
          <p:cNvPr id="15" name="Text 12"/>
          <p:cNvSpPr txBox="1"/>
          <p:nvPr/>
        </p:nvSpPr>
        <p:spPr>
          <a:xfrm>
            <a:off x="804672" y="4526280"/>
            <a:ext cx="5120640" cy="731520"/>
          </a:xfrm>
          <a:prstGeom prst="rect">
            <a:avLst/>
          </a:prstGeom>
          <a:noFill/>
          <a:ln/>
        </p:spPr>
        <p:txBody>
          <a:bodyPr wrap="square" lIns="0" tIns="0" rIns="0" bIns="0" rtlCol="0" anchor="ctr"/>
          <a:lstStyle/>
          <a:p>
            <a:pPr indent="0" marL="0">
              <a:buNone/>
            </a:pPr>
            <a:r>
              <a:rPr lang="en-US" sz="2100" b="1" dirty="0">
                <a:solidFill>
                  <a:srgbClr val="2B2340"/>
                </a:solidFill>
                <a:latin typeface="Cambria Math" pitchFamily="34" charset="0"/>
                <a:ea typeface="Cambria Math" pitchFamily="34" charset="-122"/>
                <a:cs typeface="Cambria Math" pitchFamily="34" charset="-120"/>
              </a:rPr>
              <a:t>h˜</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 = tanh(W [r</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 ⊙ h</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t-1</a:t>
            </a:r>
            <a:pPr indent="0" marL="0">
              <a:buNone/>
            </a:pPr>
            <a:r>
              <a:rPr lang="en-US" sz="2100" b="1" dirty="0">
                <a:solidFill>
                  <a:srgbClr val="2B2340"/>
                </a:solidFill>
                <a:latin typeface="Cambria Math" pitchFamily="34" charset="0"/>
                <a:ea typeface="Cambria Math" pitchFamily="34" charset="-122"/>
                <a:cs typeface="Cambria Math" pitchFamily="34" charset="-120"/>
              </a:rPr>
              <a:t>, x</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a:t>
            </a:r>
            <a:endParaRPr lang="en-US" sz="2100" dirty="0"/>
          </a:p>
        </p:txBody>
      </p:sp>
      <p:sp>
        <p:nvSpPr>
          <p:cNvPr id="16" name="Text 13"/>
          <p:cNvSpPr txBox="1"/>
          <p:nvPr/>
        </p:nvSpPr>
        <p:spPr>
          <a:xfrm>
            <a:off x="6126480" y="4526280"/>
            <a:ext cx="5486400" cy="731520"/>
          </a:xfrm>
          <a:prstGeom prst="rect">
            <a:avLst/>
          </a:prstGeom>
          <a:noFill/>
          <a:ln/>
        </p:spPr>
        <p:txBody>
          <a:bodyPr wrap="square" lIns="0" tIns="0" rIns="0" bIns="0" rtlCol="0" anchor="ctr"/>
          <a:lstStyle/>
          <a:p>
            <a:pPr indent="0" marL="0">
              <a:lnSpc>
                <a:spcPts val="2100"/>
              </a:lnSpc>
              <a:buNone/>
            </a:pPr>
            <a:r>
              <a:rPr lang="en-US" sz="1600" dirty="0">
                <a:solidFill>
                  <a:srgbClr val="6E6879"/>
                </a:solidFill>
                <a:latin typeface="Calibri" pitchFamily="34" charset="0"/>
                <a:ea typeface="Calibri" pitchFamily="34" charset="-122"/>
                <a:cs typeface="Calibri" pitchFamily="34" charset="-120"/>
              </a:rPr>
              <a:t>Candidate hidden state, computed using only the part of the past the reset gate lets through.</a:t>
            </a:r>
            <a:endParaRPr lang="en-US" sz="1600" dirty="0"/>
          </a:p>
        </p:txBody>
      </p:sp>
      <p:sp>
        <p:nvSpPr>
          <p:cNvPr id="17" name="Shape 14"/>
          <p:cNvSpPr/>
          <p:nvPr/>
        </p:nvSpPr>
        <p:spPr>
          <a:xfrm>
            <a:off x="548640" y="5495544"/>
            <a:ext cx="64008" cy="621792"/>
          </a:xfrm>
          <a:prstGeom prst="rect">
            <a:avLst/>
          </a:prstGeom>
          <a:solidFill>
            <a:srgbClr val="E8A72C"/>
          </a:solidFill>
          <a:ln/>
        </p:spPr>
      </p:sp>
      <p:sp>
        <p:nvSpPr>
          <p:cNvPr id="18" name="Text 15"/>
          <p:cNvSpPr txBox="1"/>
          <p:nvPr/>
        </p:nvSpPr>
        <p:spPr>
          <a:xfrm>
            <a:off x="804672" y="5440680"/>
            <a:ext cx="5120640" cy="731520"/>
          </a:xfrm>
          <a:prstGeom prst="rect">
            <a:avLst/>
          </a:prstGeom>
          <a:noFill/>
          <a:ln/>
        </p:spPr>
        <p:txBody>
          <a:bodyPr wrap="square" lIns="0" tIns="0" rIns="0" bIns="0" rtlCol="0" anchor="ctr"/>
          <a:lstStyle/>
          <a:p>
            <a:pPr indent="0" marL="0">
              <a:buNone/>
            </a:pPr>
            <a:r>
              <a:rPr lang="en-US" sz="2100" b="1" dirty="0">
                <a:solidFill>
                  <a:srgbClr val="2B2340"/>
                </a:solidFill>
                <a:latin typeface="Cambria Math" pitchFamily="34" charset="0"/>
                <a:ea typeface="Cambria Math" pitchFamily="34" charset="-122"/>
                <a:cs typeface="Cambria Math" pitchFamily="34" charset="-120"/>
              </a:rPr>
              <a:t>h</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 = (1 - z</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 ⊙ h</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t-1</a:t>
            </a:r>
            <a:pPr indent="0" marL="0">
              <a:buNone/>
            </a:pPr>
            <a:r>
              <a:rPr lang="en-US" sz="2100" b="1" dirty="0">
                <a:solidFill>
                  <a:srgbClr val="2B2340"/>
                </a:solidFill>
                <a:latin typeface="Cambria Math" pitchFamily="34" charset="0"/>
                <a:ea typeface="Cambria Math" pitchFamily="34" charset="-122"/>
                <a:cs typeface="Cambria Math" pitchFamily="34" charset="-120"/>
              </a:rPr>
              <a:t> + z</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 ⊙ h˜</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t</a:t>
            </a:r>
            <a:endParaRPr lang="en-US" sz="2100" dirty="0"/>
          </a:p>
        </p:txBody>
      </p:sp>
      <p:sp>
        <p:nvSpPr>
          <p:cNvPr id="19" name="Text 16"/>
          <p:cNvSpPr txBox="1"/>
          <p:nvPr/>
        </p:nvSpPr>
        <p:spPr>
          <a:xfrm>
            <a:off x="6126480" y="5440680"/>
            <a:ext cx="5486400" cy="731520"/>
          </a:xfrm>
          <a:prstGeom prst="rect">
            <a:avLst/>
          </a:prstGeom>
          <a:noFill/>
          <a:ln/>
        </p:spPr>
        <p:txBody>
          <a:bodyPr wrap="square" lIns="0" tIns="0" rIns="0" bIns="0" rtlCol="0" anchor="ctr"/>
          <a:lstStyle/>
          <a:p>
            <a:pPr indent="0" marL="0">
              <a:lnSpc>
                <a:spcPts val="2100"/>
              </a:lnSpc>
              <a:buNone/>
            </a:pPr>
            <a:r>
              <a:rPr lang="en-US" sz="1600" dirty="0">
                <a:solidFill>
                  <a:srgbClr val="6E6879"/>
                </a:solidFill>
                <a:latin typeface="Calibri" pitchFamily="34" charset="0"/>
                <a:ea typeface="Calibri" pitchFamily="34" charset="-122"/>
                <a:cs typeface="Calibri" pitchFamily="34" charset="-120"/>
              </a:rPr>
              <a:t>The new hidden state blends the old state and the candidate, weighted by the update gate.</a:t>
            </a:r>
            <a:endParaRPr lang="en-US" sz="1600" dirty="0"/>
          </a:p>
        </p:txBody>
      </p:sp>
      <p:sp>
        <p:nvSpPr>
          <p:cNvPr id="20" name="Text 17"/>
          <p:cNvSpPr txBox="1"/>
          <p:nvPr/>
        </p:nvSpPr>
        <p:spPr>
          <a:xfrm>
            <a:off x="11368735" y="6355080"/>
            <a:ext cx="548640" cy="274320"/>
          </a:xfrm>
          <a:prstGeom prst="rect">
            <a:avLst/>
          </a:prstGeom>
          <a:noFill/>
          <a:ln/>
        </p:spPr>
        <p:txBody>
          <a:bodyPr wrap="square" lIns="0" tIns="0" rIns="0" bIns="0" rtlCol="0" anchor="ctr"/>
          <a:lstStyle/>
          <a:p>
            <a:pPr algn="r" indent="0" marL="0">
              <a:buNone/>
            </a:pPr>
            <a:r>
              <a:rPr lang="en-US" sz="1100" dirty="0">
                <a:solidFill>
                  <a:srgbClr val="6E6879"/>
                </a:solidFill>
                <a:latin typeface="Calibri" pitchFamily="34" charset="0"/>
                <a:ea typeface="Calibri" pitchFamily="34" charset="-122"/>
                <a:cs typeface="Calibri"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AFC"/>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65760"/>
          </a:xfrm>
          <a:prstGeom prst="rect">
            <a:avLst/>
          </a:prstGeom>
          <a:noFill/>
          <a:ln/>
        </p:spPr>
        <p:txBody>
          <a:bodyPr wrap="square" lIns="0" tIns="0" rIns="0" bIns="0" rtlCol="0" anchor="ctr"/>
          <a:lstStyle/>
          <a:p>
            <a:pPr indent="0" marL="0">
              <a:buNone/>
            </a:pPr>
            <a:r>
              <a:rPr lang="en-US" sz="1400" b="1" spc="200" kern="0" dirty="0">
                <a:solidFill>
                  <a:srgbClr val="5B2C91"/>
                </a:solidFill>
                <a:latin typeface="Calibri" pitchFamily="34" charset="0"/>
                <a:ea typeface="Calibri" pitchFamily="34" charset="-122"/>
                <a:cs typeface="Calibri" pitchFamily="34" charset="-120"/>
              </a:rPr>
              <a:t>ALGORITHM 4 OF 4 — CONCEPT</a:t>
            </a:r>
            <a:endParaRPr lang="en-US" sz="1400" dirty="0"/>
          </a:p>
        </p:txBody>
      </p:sp>
      <p:sp>
        <p:nvSpPr>
          <p:cNvPr id="3" name="Text 1"/>
          <p:cNvSpPr txBox="1"/>
          <p:nvPr/>
        </p:nvSpPr>
        <p:spPr>
          <a:xfrm>
            <a:off x="548640" y="777240"/>
            <a:ext cx="8778240" cy="685800"/>
          </a:xfrm>
          <a:prstGeom prst="rect">
            <a:avLst/>
          </a:prstGeom>
          <a:noFill/>
          <a:ln/>
        </p:spPr>
        <p:txBody>
          <a:bodyPr wrap="square" lIns="0" tIns="0" rIns="0" bIns="0" rtlCol="0" anchor="ctr"/>
          <a:lstStyle/>
          <a:p>
            <a:pPr indent="0" marL="0">
              <a:buNone/>
            </a:pPr>
            <a:r>
              <a:rPr lang="en-US" sz="3000" b="1" dirty="0">
                <a:solidFill>
                  <a:srgbClr val="2B2340"/>
                </a:solidFill>
                <a:latin typeface="Cambria" pitchFamily="34" charset="0"/>
                <a:ea typeface="Cambria" pitchFamily="34" charset="-122"/>
                <a:cs typeface="Cambria" pitchFamily="34" charset="-120"/>
              </a:rPr>
              <a:t>Transformer (Self-Attention Network)</a:t>
            </a:r>
            <a:endParaRPr lang="en-US" sz="3000" dirty="0"/>
          </a:p>
        </p:txBody>
      </p:sp>
      <p:sp>
        <p:nvSpPr>
          <p:cNvPr id="4" name="Shape 2"/>
          <p:cNvSpPr/>
          <p:nvPr/>
        </p:nvSpPr>
        <p:spPr>
          <a:xfrm>
            <a:off x="182880" y="2604041"/>
            <a:ext cx="3566160" cy="2381439"/>
          </a:xfrm>
          <a:prstGeom prst="roundRect">
            <a:avLst>
              <a:gd name="adj" fmla="val 4608"/>
            </a:avLst>
          </a:prstGeom>
          <a:solidFill>
            <a:srgbClr val="FFFFFF"/>
          </a:solidFill>
          <a:ln w="15875">
            <a:solidFill>
              <a:srgbClr val="E7E1F0"/>
            </a:solidFill>
            <a:prstDash val="solid"/>
          </a:ln>
          <a:effectLst>
            <a:outerShdw sx="100000" sy="100000" kx="0" ky="0" algn="bl" rotWithShape="0" blurRad="152400" dist="38100" dir="5400000">
              <a:srgbClr val="1A1A2E">
                <a:alpha val="16000"/>
              </a:srgbClr>
            </a:outerShdw>
          </a:effectLst>
        </p:spPr>
      </p:sp>
      <p:sp>
        <p:nvSpPr>
          <p:cNvPr id="5" name="Shape 3"/>
          <p:cNvSpPr/>
          <p:nvPr/>
        </p:nvSpPr>
        <p:spPr>
          <a:xfrm>
            <a:off x="182880" y="2604041"/>
            <a:ext cx="3566160" cy="82296"/>
          </a:xfrm>
          <a:prstGeom prst="rect">
            <a:avLst/>
          </a:prstGeom>
          <a:solidFill>
            <a:srgbClr val="5B2C91"/>
          </a:solidFill>
          <a:ln/>
        </p:spPr>
      </p:sp>
      <p:pic>
        <p:nvPicPr>
          <p:cNvPr id="6" name="Image 0" descr="/home/claude/ecg_deck/diagram_transformer.png">    </p:cNvPr>
          <p:cNvPicPr>
            <a:picLocks noChangeAspect="1"/>
          </p:cNvPicPr>
          <p:nvPr/>
        </p:nvPicPr>
        <p:blipFill>
          <a:blip r:embed="rId1"/>
          <a:stretch>
            <a:fillRect/>
          </a:stretch>
        </p:blipFill>
        <p:spPr>
          <a:xfrm>
            <a:off x="457200" y="2878361"/>
            <a:ext cx="3017520" cy="1832799"/>
          </a:xfrm>
          <a:prstGeom prst="rect">
            <a:avLst/>
          </a:prstGeom>
        </p:spPr>
      </p:pic>
      <p:sp>
        <p:nvSpPr>
          <p:cNvPr id="7" name="Shape 4"/>
          <p:cNvSpPr/>
          <p:nvPr/>
        </p:nvSpPr>
        <p:spPr>
          <a:xfrm>
            <a:off x="3977640" y="1737360"/>
            <a:ext cx="64008" cy="960120"/>
          </a:xfrm>
          <a:prstGeom prst="rect">
            <a:avLst/>
          </a:prstGeom>
          <a:solidFill>
            <a:srgbClr val="5B2C91"/>
          </a:solidFill>
          <a:ln/>
        </p:spPr>
      </p:sp>
      <p:sp>
        <p:nvSpPr>
          <p:cNvPr id="8" name="Text 5"/>
          <p:cNvSpPr txBox="1"/>
          <p:nvPr/>
        </p:nvSpPr>
        <p:spPr>
          <a:xfrm>
            <a:off x="4233672" y="1673352"/>
            <a:ext cx="7379208" cy="292608"/>
          </a:xfrm>
          <a:prstGeom prst="rect">
            <a:avLst/>
          </a:prstGeom>
          <a:noFill/>
          <a:ln/>
        </p:spPr>
        <p:txBody>
          <a:bodyPr wrap="square" lIns="0" tIns="0" rIns="0" bIns="0" rtlCol="0" anchor="ctr"/>
          <a:lstStyle/>
          <a:p>
            <a:pPr indent="0" marL="0">
              <a:buNone/>
            </a:pPr>
            <a:r>
              <a:rPr lang="en-US" sz="1400" b="1" spc="100" kern="0" dirty="0">
                <a:solidFill>
                  <a:srgbClr val="5B2C91"/>
                </a:solidFill>
                <a:latin typeface="Calibri" pitchFamily="34" charset="0"/>
                <a:ea typeface="Calibri" pitchFamily="34" charset="-122"/>
                <a:cs typeface="Calibri" pitchFamily="34" charset="-120"/>
              </a:rPr>
              <a:t>BASIC IDEA</a:t>
            </a:r>
            <a:endParaRPr lang="en-US" sz="1400" dirty="0"/>
          </a:p>
        </p:txBody>
      </p:sp>
      <p:sp>
        <p:nvSpPr>
          <p:cNvPr id="9" name="Text 6"/>
          <p:cNvSpPr txBox="1"/>
          <p:nvPr/>
        </p:nvSpPr>
        <p:spPr>
          <a:xfrm>
            <a:off x="4233672" y="2011680"/>
            <a:ext cx="7379208" cy="1005840"/>
          </a:xfrm>
          <a:prstGeom prst="rect">
            <a:avLst/>
          </a:prstGeom>
          <a:noFill/>
          <a:ln/>
        </p:spPr>
        <p:txBody>
          <a:bodyPr wrap="square" lIns="0" tIns="0" rIns="0" bIns="0" rtlCol="0" anchor="ctr"/>
          <a:lstStyle/>
          <a:p>
            <a:pPr indent="0" marL="0">
              <a:lnSpc>
                <a:spcPts val="2300"/>
              </a:lnSpc>
              <a:buNone/>
            </a:pPr>
            <a:r>
              <a:rPr lang="en-US" sz="1800" dirty="0">
                <a:solidFill>
                  <a:srgbClr val="2B2340"/>
                </a:solidFill>
                <a:latin typeface="Calibri" pitchFamily="34" charset="0"/>
                <a:ea typeface="Calibri" pitchFamily="34" charset="-122"/>
                <a:cs typeface="Calibri" pitchFamily="34" charset="-120"/>
              </a:rPr>
              <a:t>Instead of reading the signal step-by-step, self-attention lets every point in the sequence directly compare itself with every other point at once — no matter how far apart they are.</a:t>
            </a:r>
            <a:endParaRPr lang="en-US" sz="1800" dirty="0"/>
          </a:p>
        </p:txBody>
      </p:sp>
      <p:sp>
        <p:nvSpPr>
          <p:cNvPr id="10" name="Shape 7"/>
          <p:cNvSpPr/>
          <p:nvPr/>
        </p:nvSpPr>
        <p:spPr>
          <a:xfrm>
            <a:off x="3977640" y="3364992"/>
            <a:ext cx="64008" cy="960120"/>
          </a:xfrm>
          <a:prstGeom prst="rect">
            <a:avLst/>
          </a:prstGeom>
          <a:solidFill>
            <a:srgbClr val="5B2C91"/>
          </a:solidFill>
          <a:ln/>
        </p:spPr>
      </p:sp>
      <p:sp>
        <p:nvSpPr>
          <p:cNvPr id="11" name="Text 8"/>
          <p:cNvSpPr txBox="1"/>
          <p:nvPr/>
        </p:nvSpPr>
        <p:spPr>
          <a:xfrm>
            <a:off x="4233672" y="3300984"/>
            <a:ext cx="7379208" cy="292608"/>
          </a:xfrm>
          <a:prstGeom prst="rect">
            <a:avLst/>
          </a:prstGeom>
          <a:noFill/>
          <a:ln/>
        </p:spPr>
        <p:txBody>
          <a:bodyPr wrap="square" lIns="0" tIns="0" rIns="0" bIns="0" rtlCol="0" anchor="ctr"/>
          <a:lstStyle/>
          <a:p>
            <a:pPr indent="0" marL="0">
              <a:buNone/>
            </a:pPr>
            <a:r>
              <a:rPr lang="en-US" sz="1400" b="1" spc="100" kern="0" dirty="0">
                <a:solidFill>
                  <a:srgbClr val="5B2C91"/>
                </a:solidFill>
                <a:latin typeface="Calibri" pitchFamily="34" charset="0"/>
                <a:ea typeface="Calibri" pitchFamily="34" charset="-122"/>
                <a:cs typeface="Calibri" pitchFamily="34" charset="-120"/>
              </a:rPr>
              <a:t>WHY IT FITS THIS DATASET</a:t>
            </a:r>
            <a:endParaRPr lang="en-US" sz="1400" dirty="0"/>
          </a:p>
        </p:txBody>
      </p:sp>
      <p:sp>
        <p:nvSpPr>
          <p:cNvPr id="12" name="Text 9"/>
          <p:cNvSpPr txBox="1"/>
          <p:nvPr/>
        </p:nvSpPr>
        <p:spPr>
          <a:xfrm>
            <a:off x="4233672" y="3639312"/>
            <a:ext cx="7379208" cy="1005840"/>
          </a:xfrm>
          <a:prstGeom prst="rect">
            <a:avLst/>
          </a:prstGeom>
          <a:noFill/>
          <a:ln/>
        </p:spPr>
        <p:txBody>
          <a:bodyPr wrap="square" lIns="0" tIns="0" rIns="0" bIns="0" rtlCol="0" anchor="ctr"/>
          <a:lstStyle/>
          <a:p>
            <a:pPr indent="0" marL="0">
              <a:lnSpc>
                <a:spcPts val="2300"/>
              </a:lnSpc>
              <a:buNone/>
            </a:pPr>
            <a:r>
              <a:rPr lang="en-US" sz="1800" dirty="0">
                <a:solidFill>
                  <a:srgbClr val="2B2340"/>
                </a:solidFill>
                <a:latin typeface="Calibri" pitchFamily="34" charset="0"/>
                <a:ea typeface="Calibri" pitchFamily="34" charset="-122"/>
                <a:cs typeface="Calibri" pitchFamily="34" charset="-120"/>
              </a:rPr>
              <a:t>An abnormal beat is often defined by a relationship between two distant parts of the waveform. Attention captures this long-range relationship directly, without it fading the way it can in a recurrent model.</a:t>
            </a:r>
            <a:endParaRPr lang="en-US" sz="1800" dirty="0"/>
          </a:p>
        </p:txBody>
      </p:sp>
      <p:sp>
        <p:nvSpPr>
          <p:cNvPr id="13" name="Shape 10"/>
          <p:cNvSpPr/>
          <p:nvPr/>
        </p:nvSpPr>
        <p:spPr>
          <a:xfrm>
            <a:off x="3977640" y="4992624"/>
            <a:ext cx="64008" cy="960120"/>
          </a:xfrm>
          <a:prstGeom prst="rect">
            <a:avLst/>
          </a:prstGeom>
          <a:solidFill>
            <a:srgbClr val="5B2C91"/>
          </a:solidFill>
          <a:ln/>
        </p:spPr>
      </p:sp>
      <p:sp>
        <p:nvSpPr>
          <p:cNvPr id="14" name="Text 11"/>
          <p:cNvSpPr txBox="1"/>
          <p:nvPr/>
        </p:nvSpPr>
        <p:spPr>
          <a:xfrm>
            <a:off x="4233672" y="4928616"/>
            <a:ext cx="7379208" cy="292608"/>
          </a:xfrm>
          <a:prstGeom prst="rect">
            <a:avLst/>
          </a:prstGeom>
          <a:noFill/>
          <a:ln/>
        </p:spPr>
        <p:txBody>
          <a:bodyPr wrap="square" lIns="0" tIns="0" rIns="0" bIns="0" rtlCol="0" anchor="ctr"/>
          <a:lstStyle/>
          <a:p>
            <a:pPr indent="0" marL="0">
              <a:buNone/>
            </a:pPr>
            <a:r>
              <a:rPr lang="en-US" sz="1400" b="1" spc="100" kern="0" dirty="0">
                <a:solidFill>
                  <a:srgbClr val="5B2C91"/>
                </a:solidFill>
                <a:latin typeface="Calibri" pitchFamily="34" charset="0"/>
                <a:ea typeface="Calibri" pitchFamily="34" charset="-122"/>
                <a:cs typeface="Calibri" pitchFamily="34" charset="-120"/>
              </a:rPr>
              <a:t>CORE LOGIC</a:t>
            </a:r>
            <a:endParaRPr lang="en-US" sz="1400" dirty="0"/>
          </a:p>
        </p:txBody>
      </p:sp>
      <p:sp>
        <p:nvSpPr>
          <p:cNvPr id="15" name="Text 12"/>
          <p:cNvSpPr txBox="1"/>
          <p:nvPr/>
        </p:nvSpPr>
        <p:spPr>
          <a:xfrm>
            <a:off x="4233672" y="5266944"/>
            <a:ext cx="7379208" cy="1005840"/>
          </a:xfrm>
          <a:prstGeom prst="rect">
            <a:avLst/>
          </a:prstGeom>
          <a:noFill/>
          <a:ln/>
        </p:spPr>
        <p:txBody>
          <a:bodyPr wrap="square" lIns="0" tIns="0" rIns="0" bIns="0" rtlCol="0" anchor="ctr"/>
          <a:lstStyle/>
          <a:p>
            <a:pPr indent="0" marL="0">
              <a:lnSpc>
                <a:spcPts val="2300"/>
              </a:lnSpc>
              <a:buNone/>
            </a:pPr>
            <a:r>
              <a:rPr lang="en-US" sz="1800" dirty="0">
                <a:solidFill>
                  <a:srgbClr val="2B2340"/>
                </a:solidFill>
                <a:latin typeface="Calibri" pitchFamily="34" charset="0"/>
                <a:ea typeface="Calibri" pitchFamily="34" charset="-122"/>
                <a:cs typeface="Calibri" pitchFamily="34" charset="-120"/>
              </a:rPr>
              <a:t>Each time-step becomes a Query, Key, and Value vector; attention scores (Query · Key) decide how much every other time-step contributes to the current one, producing a weighted mix of Values as the new representation.</a:t>
            </a:r>
            <a:endParaRPr lang="en-US" sz="1800" dirty="0"/>
          </a:p>
        </p:txBody>
      </p:sp>
      <p:sp>
        <p:nvSpPr>
          <p:cNvPr id="16" name="Text 13"/>
          <p:cNvSpPr txBox="1"/>
          <p:nvPr/>
        </p:nvSpPr>
        <p:spPr>
          <a:xfrm>
            <a:off x="11368735" y="6355080"/>
            <a:ext cx="548640" cy="274320"/>
          </a:xfrm>
          <a:prstGeom prst="rect">
            <a:avLst/>
          </a:prstGeom>
          <a:noFill/>
          <a:ln/>
        </p:spPr>
        <p:txBody>
          <a:bodyPr wrap="square" lIns="0" tIns="0" rIns="0" bIns="0" rtlCol="0" anchor="ctr"/>
          <a:lstStyle/>
          <a:p>
            <a:pPr algn="r" indent="0" marL="0">
              <a:buNone/>
            </a:pPr>
            <a:r>
              <a:rPr lang="en-US" sz="1100" dirty="0">
                <a:solidFill>
                  <a:srgbClr val="6E6879"/>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AFC"/>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65760"/>
          </a:xfrm>
          <a:prstGeom prst="rect">
            <a:avLst/>
          </a:prstGeom>
          <a:noFill/>
          <a:ln/>
        </p:spPr>
        <p:txBody>
          <a:bodyPr wrap="square" lIns="0" tIns="0" rIns="0" bIns="0" rtlCol="0" anchor="ctr"/>
          <a:lstStyle/>
          <a:p>
            <a:pPr indent="0" marL="0">
              <a:buNone/>
            </a:pPr>
            <a:r>
              <a:rPr lang="en-US" sz="1400" b="1" spc="200" kern="0" dirty="0">
                <a:solidFill>
                  <a:srgbClr val="5B2C91"/>
                </a:solidFill>
                <a:latin typeface="Calibri" pitchFamily="34" charset="0"/>
                <a:ea typeface="Calibri" pitchFamily="34" charset="-122"/>
                <a:cs typeface="Calibri" pitchFamily="34" charset="-120"/>
              </a:rPr>
              <a:t>ALGORITHM 4 OF 4 — THE MATH</a:t>
            </a:r>
            <a:endParaRPr lang="en-US" sz="1400" dirty="0"/>
          </a:p>
        </p:txBody>
      </p:sp>
      <p:sp>
        <p:nvSpPr>
          <p:cNvPr id="3" name="Text 1"/>
          <p:cNvSpPr txBox="1"/>
          <p:nvPr/>
        </p:nvSpPr>
        <p:spPr>
          <a:xfrm>
            <a:off x="548640" y="777240"/>
            <a:ext cx="7863840" cy="685800"/>
          </a:xfrm>
          <a:prstGeom prst="rect">
            <a:avLst/>
          </a:prstGeom>
          <a:noFill/>
          <a:ln/>
        </p:spPr>
        <p:txBody>
          <a:bodyPr wrap="square" lIns="0" tIns="0" rIns="0" bIns="0" rtlCol="0" anchor="ctr"/>
          <a:lstStyle/>
          <a:p>
            <a:pPr indent="0" marL="0">
              <a:buNone/>
            </a:pPr>
            <a:r>
              <a:rPr lang="en-US" sz="2700" b="1" dirty="0">
                <a:solidFill>
                  <a:srgbClr val="2B2340"/>
                </a:solidFill>
                <a:latin typeface="Cambria" pitchFamily="34" charset="0"/>
                <a:ea typeface="Cambria" pitchFamily="34" charset="-122"/>
                <a:cs typeface="Cambria" pitchFamily="34" charset="-120"/>
              </a:rPr>
              <a:t>Transformer (Self-Attention Network)</a:t>
            </a:r>
            <a:endParaRPr lang="en-US" sz="2700" dirty="0"/>
          </a:p>
        </p:txBody>
      </p:sp>
      <p:sp>
        <p:nvSpPr>
          <p:cNvPr id="4" name="Text 2"/>
          <p:cNvSpPr txBox="1"/>
          <p:nvPr/>
        </p:nvSpPr>
        <p:spPr>
          <a:xfrm>
            <a:off x="548640" y="1371600"/>
            <a:ext cx="8229600" cy="320040"/>
          </a:xfrm>
          <a:prstGeom prst="rect">
            <a:avLst/>
          </a:prstGeom>
          <a:noFill/>
          <a:ln/>
        </p:spPr>
        <p:txBody>
          <a:bodyPr wrap="square" lIns="0" tIns="0" rIns="0" bIns="0" rtlCol="0" anchor="ctr"/>
          <a:lstStyle/>
          <a:p>
            <a:pPr indent="0" marL="0">
              <a:buNone/>
            </a:pPr>
            <a:r>
              <a:rPr lang="en-US" sz="1400" i="1" dirty="0">
                <a:solidFill>
                  <a:srgbClr val="6E6879"/>
                </a:solidFill>
                <a:latin typeface="Calibri" pitchFamily="34" charset="0"/>
                <a:ea typeface="Calibri" pitchFamily="34" charset="-122"/>
                <a:cs typeface="Calibri" pitchFamily="34" charset="-120"/>
              </a:rPr>
              <a:t>The equations actually implemented for this model</a:t>
            </a:r>
            <a:endParaRPr lang="en-US" sz="1400" dirty="0"/>
          </a:p>
        </p:txBody>
      </p:sp>
      <p:sp>
        <p:nvSpPr>
          <p:cNvPr id="5" name="Shape 3"/>
          <p:cNvSpPr/>
          <p:nvPr/>
        </p:nvSpPr>
        <p:spPr>
          <a:xfrm>
            <a:off x="9144000" y="393219"/>
            <a:ext cx="3017520" cy="2048203"/>
          </a:xfrm>
          <a:prstGeom prst="roundRect">
            <a:avLst>
              <a:gd name="adj" fmla="val 5357"/>
            </a:avLst>
          </a:prstGeom>
          <a:solidFill>
            <a:srgbClr val="FFFFFF"/>
          </a:solidFill>
          <a:ln w="15875">
            <a:solidFill>
              <a:srgbClr val="E7E1F0"/>
            </a:solidFill>
            <a:prstDash val="solid"/>
          </a:ln>
          <a:effectLst>
            <a:outerShdw sx="100000" sy="100000" kx="0" ky="0" algn="bl" rotWithShape="0" blurRad="152400" dist="38100" dir="5400000">
              <a:srgbClr val="1A1A2E">
                <a:alpha val="16000"/>
              </a:srgbClr>
            </a:outerShdw>
          </a:effectLst>
        </p:spPr>
      </p:sp>
      <p:sp>
        <p:nvSpPr>
          <p:cNvPr id="6" name="Shape 4"/>
          <p:cNvSpPr/>
          <p:nvPr/>
        </p:nvSpPr>
        <p:spPr>
          <a:xfrm>
            <a:off x="9144000" y="393219"/>
            <a:ext cx="3017520" cy="82296"/>
          </a:xfrm>
          <a:prstGeom prst="rect">
            <a:avLst/>
          </a:prstGeom>
          <a:solidFill>
            <a:srgbClr val="5B2C91"/>
          </a:solidFill>
          <a:ln/>
        </p:spPr>
      </p:sp>
      <p:pic>
        <p:nvPicPr>
          <p:cNvPr id="7" name="Image 0" descr="/home/claude/ecg_deck/diagram_transformer.png">    </p:cNvPr>
          <p:cNvPicPr>
            <a:picLocks noChangeAspect="1"/>
          </p:cNvPicPr>
          <p:nvPr/>
        </p:nvPicPr>
        <p:blipFill>
          <a:blip r:embed="rId1"/>
          <a:stretch>
            <a:fillRect/>
          </a:stretch>
        </p:blipFill>
        <p:spPr>
          <a:xfrm>
            <a:off x="9418320" y="667539"/>
            <a:ext cx="2468880" cy="1499563"/>
          </a:xfrm>
          <a:prstGeom prst="rect">
            <a:avLst/>
          </a:prstGeom>
        </p:spPr>
      </p:pic>
      <p:sp>
        <p:nvSpPr>
          <p:cNvPr id="8" name="Shape 5"/>
          <p:cNvSpPr/>
          <p:nvPr/>
        </p:nvSpPr>
        <p:spPr>
          <a:xfrm>
            <a:off x="548640" y="2752344"/>
            <a:ext cx="64008" cy="926592"/>
          </a:xfrm>
          <a:prstGeom prst="rect">
            <a:avLst/>
          </a:prstGeom>
          <a:solidFill>
            <a:srgbClr val="5B2C91"/>
          </a:solidFill>
          <a:ln/>
        </p:spPr>
      </p:sp>
      <p:sp>
        <p:nvSpPr>
          <p:cNvPr id="9" name="Text 6"/>
          <p:cNvSpPr txBox="1"/>
          <p:nvPr/>
        </p:nvSpPr>
        <p:spPr>
          <a:xfrm>
            <a:off x="804672" y="2697480"/>
            <a:ext cx="5120640" cy="1036320"/>
          </a:xfrm>
          <a:prstGeom prst="rect">
            <a:avLst/>
          </a:prstGeom>
          <a:noFill/>
          <a:ln/>
        </p:spPr>
        <p:txBody>
          <a:bodyPr wrap="square" lIns="0" tIns="0" rIns="0" bIns="0" rtlCol="0" anchor="ctr"/>
          <a:lstStyle/>
          <a:p>
            <a:pPr indent="0" marL="0">
              <a:buNone/>
            </a:pPr>
            <a:r>
              <a:rPr lang="en-US" sz="2100" b="1" dirty="0">
                <a:solidFill>
                  <a:srgbClr val="2B2340"/>
                </a:solidFill>
                <a:latin typeface="Cambria Math" pitchFamily="34" charset="0"/>
                <a:ea typeface="Cambria Math" pitchFamily="34" charset="-122"/>
                <a:cs typeface="Cambria Math" pitchFamily="34" charset="-120"/>
              </a:rPr>
              <a:t>Q = XW</a:t>
            </a:r>
            <a:pPr indent="0" marL="0">
              <a:buNone/>
            </a:pPr>
            <a:r>
              <a:rPr lang="en-US" sz="2100" b="1" baseline="30000" dirty="0">
                <a:solidFill>
                  <a:srgbClr val="2B2340"/>
                </a:solidFill>
                <a:latin typeface="Cambria Math" pitchFamily="34" charset="0"/>
                <a:ea typeface="Cambria Math" pitchFamily="34" charset="-122"/>
                <a:cs typeface="Cambria Math" pitchFamily="34" charset="-120"/>
              </a:rPr>
              <a:t>Q</a:t>
            </a:r>
            <a:pPr indent="0" marL="0">
              <a:buNone/>
            </a:pPr>
            <a:r>
              <a:rPr lang="en-US" sz="2100" b="1" dirty="0">
                <a:solidFill>
                  <a:srgbClr val="2B2340"/>
                </a:solidFill>
                <a:latin typeface="Cambria Math" pitchFamily="34" charset="0"/>
                <a:ea typeface="Cambria Math" pitchFamily="34" charset="-122"/>
                <a:cs typeface="Cambria Math" pitchFamily="34" charset="-120"/>
              </a:rPr>
              <a:t>,  K = XW</a:t>
            </a:r>
            <a:pPr indent="0" marL="0">
              <a:buNone/>
            </a:pPr>
            <a:r>
              <a:rPr lang="en-US" sz="2100" b="1" baseline="30000" dirty="0">
                <a:solidFill>
                  <a:srgbClr val="2B2340"/>
                </a:solidFill>
                <a:latin typeface="Cambria Math" pitchFamily="34" charset="0"/>
                <a:ea typeface="Cambria Math" pitchFamily="34" charset="-122"/>
                <a:cs typeface="Cambria Math" pitchFamily="34" charset="-120"/>
              </a:rPr>
              <a:t>K</a:t>
            </a:r>
            <a:pPr indent="0" marL="0">
              <a:buNone/>
            </a:pPr>
            <a:r>
              <a:rPr lang="en-US" sz="2100" b="1" dirty="0">
                <a:solidFill>
                  <a:srgbClr val="2B2340"/>
                </a:solidFill>
                <a:latin typeface="Cambria Math" pitchFamily="34" charset="0"/>
                <a:ea typeface="Cambria Math" pitchFamily="34" charset="-122"/>
                <a:cs typeface="Cambria Math" pitchFamily="34" charset="-120"/>
              </a:rPr>
              <a:t>,  V = XW</a:t>
            </a:r>
            <a:pPr indent="0" marL="0">
              <a:buNone/>
            </a:pPr>
            <a:r>
              <a:rPr lang="en-US" sz="2100" b="1" baseline="30000" dirty="0">
                <a:solidFill>
                  <a:srgbClr val="2B2340"/>
                </a:solidFill>
                <a:latin typeface="Cambria Math" pitchFamily="34" charset="0"/>
                <a:ea typeface="Cambria Math" pitchFamily="34" charset="-122"/>
                <a:cs typeface="Cambria Math" pitchFamily="34" charset="-120"/>
              </a:rPr>
              <a:t>V</a:t>
            </a:r>
            <a:endParaRPr lang="en-US" sz="2100" dirty="0"/>
          </a:p>
        </p:txBody>
      </p:sp>
      <p:sp>
        <p:nvSpPr>
          <p:cNvPr id="10" name="Text 7"/>
          <p:cNvSpPr txBox="1"/>
          <p:nvPr/>
        </p:nvSpPr>
        <p:spPr>
          <a:xfrm>
            <a:off x="6126480" y="2697480"/>
            <a:ext cx="5486400" cy="1036320"/>
          </a:xfrm>
          <a:prstGeom prst="rect">
            <a:avLst/>
          </a:prstGeom>
          <a:noFill/>
          <a:ln/>
        </p:spPr>
        <p:txBody>
          <a:bodyPr wrap="square" lIns="0" tIns="0" rIns="0" bIns="0" rtlCol="0" anchor="ctr"/>
          <a:lstStyle/>
          <a:p>
            <a:pPr indent="0" marL="0">
              <a:lnSpc>
                <a:spcPts val="2100"/>
              </a:lnSpc>
              <a:buNone/>
            </a:pPr>
            <a:r>
              <a:rPr lang="en-US" sz="1600" dirty="0">
                <a:solidFill>
                  <a:srgbClr val="6E6879"/>
                </a:solidFill>
                <a:latin typeface="Calibri" pitchFamily="34" charset="0"/>
                <a:ea typeface="Calibri" pitchFamily="34" charset="-122"/>
                <a:cs typeface="Calibri" pitchFamily="34" charset="-120"/>
              </a:rPr>
              <a:t>Every time-step of the signal is projected into a Query, Key, and Value vector.</a:t>
            </a:r>
            <a:endParaRPr lang="en-US" sz="1600" dirty="0"/>
          </a:p>
        </p:txBody>
      </p:sp>
      <p:sp>
        <p:nvSpPr>
          <p:cNvPr id="11" name="Shape 8"/>
          <p:cNvSpPr/>
          <p:nvPr/>
        </p:nvSpPr>
        <p:spPr>
          <a:xfrm>
            <a:off x="548640" y="3971544"/>
            <a:ext cx="64008" cy="926592"/>
          </a:xfrm>
          <a:prstGeom prst="rect">
            <a:avLst/>
          </a:prstGeom>
          <a:solidFill>
            <a:srgbClr val="5B2C91"/>
          </a:solidFill>
          <a:ln/>
        </p:spPr>
      </p:sp>
      <p:sp>
        <p:nvSpPr>
          <p:cNvPr id="12" name="Text 9"/>
          <p:cNvSpPr txBox="1"/>
          <p:nvPr/>
        </p:nvSpPr>
        <p:spPr>
          <a:xfrm>
            <a:off x="804672" y="3916680"/>
            <a:ext cx="5120640" cy="1036320"/>
          </a:xfrm>
          <a:prstGeom prst="rect">
            <a:avLst/>
          </a:prstGeom>
          <a:noFill/>
          <a:ln/>
        </p:spPr>
        <p:txBody>
          <a:bodyPr wrap="square" lIns="0" tIns="0" rIns="0" bIns="0" rtlCol="0" anchor="ctr"/>
          <a:lstStyle/>
          <a:p>
            <a:pPr indent="0" marL="0">
              <a:buNone/>
            </a:pPr>
            <a:r>
              <a:rPr lang="en-US" sz="2100" b="1" dirty="0">
                <a:solidFill>
                  <a:srgbClr val="2B2340"/>
                </a:solidFill>
                <a:latin typeface="Cambria Math" pitchFamily="34" charset="0"/>
                <a:ea typeface="Cambria Math" pitchFamily="34" charset="-122"/>
                <a:cs typeface="Cambria Math" pitchFamily="34" charset="-120"/>
              </a:rPr>
              <a:t>A = softmax(QK</a:t>
            </a:r>
            <a:pPr indent="0" marL="0">
              <a:buNone/>
            </a:pPr>
            <a:r>
              <a:rPr lang="en-US" sz="2100" b="1" baseline="30000" dirty="0">
                <a:solidFill>
                  <a:srgbClr val="2B2340"/>
                </a:solidFill>
                <a:latin typeface="Cambria Math" pitchFamily="34" charset="0"/>
                <a:ea typeface="Cambria Math" pitchFamily="34" charset="-122"/>
                <a:cs typeface="Cambria Math" pitchFamily="34" charset="-120"/>
              </a:rPr>
              <a:t>T</a:t>
            </a:r>
            <a:pPr indent="0" marL="0">
              <a:buNone/>
            </a:pPr>
            <a:r>
              <a:rPr lang="en-US" sz="2100" b="1" dirty="0">
                <a:solidFill>
                  <a:srgbClr val="2B2340"/>
                </a:solidFill>
                <a:latin typeface="Cambria Math" pitchFamily="34" charset="0"/>
                <a:ea typeface="Cambria Math" pitchFamily="34" charset="-122"/>
                <a:cs typeface="Cambria Math" pitchFamily="34" charset="-120"/>
              </a:rPr>
              <a:t>/sqrt(d</a:t>
            </a:r>
            <a:pPr indent="0" marL="0">
              <a:buNone/>
            </a:pPr>
            <a:r>
              <a:rPr lang="en-US" sz="2100" b="1" baseline="-40000" dirty="0">
                <a:solidFill>
                  <a:srgbClr val="2B2340"/>
                </a:solidFill>
                <a:latin typeface="Cambria Math" pitchFamily="34" charset="0"/>
                <a:ea typeface="Cambria Math" pitchFamily="34" charset="-122"/>
                <a:cs typeface="Cambria Math" pitchFamily="34" charset="-120"/>
              </a:rPr>
              <a:t>k</a:t>
            </a:r>
            <a:pPr indent="0" marL="0">
              <a:buNone/>
            </a:pPr>
            <a:r>
              <a:rPr lang="en-US" sz="2100" b="1" dirty="0">
                <a:solidFill>
                  <a:srgbClr val="2B2340"/>
                </a:solidFill>
                <a:latin typeface="Cambria Math" pitchFamily="34" charset="0"/>
                <a:ea typeface="Cambria Math" pitchFamily="34" charset="-122"/>
                <a:cs typeface="Cambria Math" pitchFamily="34" charset="-120"/>
              </a:rPr>
              <a:t>))</a:t>
            </a:r>
            <a:endParaRPr lang="en-US" sz="2100" dirty="0"/>
          </a:p>
        </p:txBody>
      </p:sp>
      <p:sp>
        <p:nvSpPr>
          <p:cNvPr id="13" name="Text 10"/>
          <p:cNvSpPr txBox="1"/>
          <p:nvPr/>
        </p:nvSpPr>
        <p:spPr>
          <a:xfrm>
            <a:off x="6126480" y="3916680"/>
            <a:ext cx="5486400" cy="1036320"/>
          </a:xfrm>
          <a:prstGeom prst="rect">
            <a:avLst/>
          </a:prstGeom>
          <a:noFill/>
          <a:ln/>
        </p:spPr>
        <p:txBody>
          <a:bodyPr wrap="square" lIns="0" tIns="0" rIns="0" bIns="0" rtlCol="0" anchor="ctr"/>
          <a:lstStyle/>
          <a:p>
            <a:pPr indent="0" marL="0">
              <a:lnSpc>
                <a:spcPts val="2100"/>
              </a:lnSpc>
              <a:buNone/>
            </a:pPr>
            <a:r>
              <a:rPr lang="en-US" sz="1600" dirty="0">
                <a:solidFill>
                  <a:srgbClr val="6E6879"/>
                </a:solidFill>
                <a:latin typeface="Calibri" pitchFamily="34" charset="0"/>
                <a:ea typeface="Calibri" pitchFamily="34" charset="-122"/>
                <a:cs typeface="Calibri" pitchFamily="34" charset="-120"/>
              </a:rPr>
              <a:t>Attention weights: how strongly each time-step should attend to every other time-step.</a:t>
            </a:r>
            <a:endParaRPr lang="en-US" sz="1600" dirty="0"/>
          </a:p>
        </p:txBody>
      </p:sp>
      <p:sp>
        <p:nvSpPr>
          <p:cNvPr id="14" name="Shape 11"/>
          <p:cNvSpPr/>
          <p:nvPr/>
        </p:nvSpPr>
        <p:spPr>
          <a:xfrm>
            <a:off x="548640" y="5190744"/>
            <a:ext cx="64008" cy="926592"/>
          </a:xfrm>
          <a:prstGeom prst="rect">
            <a:avLst/>
          </a:prstGeom>
          <a:solidFill>
            <a:srgbClr val="5B2C91"/>
          </a:solidFill>
          <a:ln/>
        </p:spPr>
      </p:sp>
      <p:sp>
        <p:nvSpPr>
          <p:cNvPr id="15" name="Text 12"/>
          <p:cNvSpPr txBox="1"/>
          <p:nvPr/>
        </p:nvSpPr>
        <p:spPr>
          <a:xfrm>
            <a:off x="804672" y="5135880"/>
            <a:ext cx="5120640" cy="1036320"/>
          </a:xfrm>
          <a:prstGeom prst="rect">
            <a:avLst/>
          </a:prstGeom>
          <a:noFill/>
          <a:ln/>
        </p:spPr>
        <p:txBody>
          <a:bodyPr wrap="square" lIns="0" tIns="0" rIns="0" bIns="0" rtlCol="0" anchor="ctr"/>
          <a:lstStyle/>
          <a:p>
            <a:pPr indent="0" marL="0">
              <a:buNone/>
            </a:pPr>
            <a:r>
              <a:rPr lang="en-US" sz="2100" b="1" dirty="0">
                <a:solidFill>
                  <a:srgbClr val="2B2340"/>
                </a:solidFill>
                <a:latin typeface="Cambria Math" pitchFamily="34" charset="0"/>
                <a:ea typeface="Cambria Math" pitchFamily="34" charset="-122"/>
                <a:cs typeface="Cambria Math" pitchFamily="34" charset="-120"/>
              </a:rPr>
              <a:t>Z = A · V</a:t>
            </a:r>
            <a:endParaRPr lang="en-US" sz="2100" dirty="0"/>
          </a:p>
        </p:txBody>
      </p:sp>
      <p:sp>
        <p:nvSpPr>
          <p:cNvPr id="16" name="Text 13"/>
          <p:cNvSpPr txBox="1"/>
          <p:nvPr/>
        </p:nvSpPr>
        <p:spPr>
          <a:xfrm>
            <a:off x="6126480" y="5135880"/>
            <a:ext cx="5486400" cy="1036320"/>
          </a:xfrm>
          <a:prstGeom prst="rect">
            <a:avLst/>
          </a:prstGeom>
          <a:noFill/>
          <a:ln/>
        </p:spPr>
        <p:txBody>
          <a:bodyPr wrap="square" lIns="0" tIns="0" rIns="0" bIns="0" rtlCol="0" anchor="ctr"/>
          <a:lstStyle/>
          <a:p>
            <a:pPr indent="0" marL="0">
              <a:lnSpc>
                <a:spcPts val="2100"/>
              </a:lnSpc>
              <a:buNone/>
            </a:pPr>
            <a:r>
              <a:rPr lang="en-US" sz="1600" dirty="0">
                <a:solidFill>
                  <a:srgbClr val="6E6879"/>
                </a:solidFill>
                <a:latin typeface="Calibri" pitchFamily="34" charset="0"/>
                <a:ea typeface="Calibri" pitchFamily="34" charset="-122"/>
                <a:cs typeface="Calibri" pitchFamily="34" charset="-120"/>
              </a:rPr>
              <a:t>The new representation for each time-step is a weighted mix of Values, guided by attention.</a:t>
            </a:r>
            <a:endParaRPr lang="en-US" sz="1600" dirty="0"/>
          </a:p>
        </p:txBody>
      </p:sp>
      <p:sp>
        <p:nvSpPr>
          <p:cNvPr id="17" name="Text 14"/>
          <p:cNvSpPr txBox="1"/>
          <p:nvPr/>
        </p:nvSpPr>
        <p:spPr>
          <a:xfrm>
            <a:off x="11368735" y="6355080"/>
            <a:ext cx="548640" cy="274320"/>
          </a:xfrm>
          <a:prstGeom prst="rect">
            <a:avLst/>
          </a:prstGeom>
          <a:noFill/>
          <a:ln/>
        </p:spPr>
        <p:txBody>
          <a:bodyPr wrap="square" lIns="0" tIns="0" rIns="0" bIns="0" rtlCol="0" anchor="ctr"/>
          <a:lstStyle/>
          <a:p>
            <a:pPr algn="r" indent="0" marL="0">
              <a:buNone/>
            </a:pPr>
            <a:r>
              <a:rPr lang="en-US" sz="1100" dirty="0">
                <a:solidFill>
                  <a:srgbClr val="6E6879"/>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AFC"/>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65760"/>
          </a:xfrm>
          <a:prstGeom prst="rect">
            <a:avLst/>
          </a:prstGeom>
          <a:noFill/>
          <a:ln/>
        </p:spPr>
        <p:txBody>
          <a:bodyPr wrap="square" lIns="0" tIns="0" rIns="0" bIns="0" rtlCol="0" anchor="ctr"/>
          <a:lstStyle/>
          <a:p>
            <a:pPr indent="0" marL="0">
              <a:buNone/>
            </a:pPr>
            <a:r>
              <a:rPr lang="en-US" sz="1400" b="1" spc="200" kern="0" dirty="0">
                <a:solidFill>
                  <a:srgbClr val="E8552C"/>
                </a:solidFill>
                <a:latin typeface="Calibri" pitchFamily="34" charset="0"/>
                <a:ea typeface="Calibri" pitchFamily="34" charset="-122"/>
                <a:cs typeface="Calibri" pitchFamily="34" charset="-120"/>
              </a:rPr>
              <a:t>STEP 3 — PUTTING IT TOGETHER</a:t>
            </a:r>
            <a:endParaRPr lang="en-US" sz="1400" dirty="0"/>
          </a:p>
        </p:txBody>
      </p:sp>
      <p:sp>
        <p:nvSpPr>
          <p:cNvPr id="3" name="Text 1"/>
          <p:cNvSpPr txBox="1"/>
          <p:nvPr/>
        </p:nvSpPr>
        <p:spPr>
          <a:xfrm>
            <a:off x="548640" y="777240"/>
            <a:ext cx="9144000" cy="685800"/>
          </a:xfrm>
          <a:prstGeom prst="rect">
            <a:avLst/>
          </a:prstGeom>
          <a:noFill/>
          <a:ln/>
        </p:spPr>
        <p:txBody>
          <a:bodyPr wrap="square" lIns="0" tIns="0" rIns="0" bIns="0" rtlCol="0" anchor="ctr"/>
          <a:lstStyle/>
          <a:p>
            <a:pPr indent="0" marL="0">
              <a:buNone/>
            </a:pPr>
            <a:r>
              <a:rPr lang="en-US" sz="3300" b="1" dirty="0">
                <a:solidFill>
                  <a:srgbClr val="2B2340"/>
                </a:solidFill>
                <a:latin typeface="Cambria" pitchFamily="34" charset="0"/>
                <a:ea typeface="Cambria" pitchFamily="34" charset="-122"/>
                <a:cs typeface="Cambria" pitchFamily="34" charset="-120"/>
              </a:rPr>
              <a:t>Comparing the Four Approaches</a:t>
            </a:r>
            <a:endParaRPr lang="en-US" sz="3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3291840"/>
        </p:xfrm>
        <a:graphic>
          <a:graphicData uri="http://schemas.openxmlformats.org/drawingml/2006/table">
            <a:tbl>
              <a:tblPr/>
              <a:tblGrid>
                <a:gridCol w="1920240"/>
                <a:gridCol w="3840480"/>
                <a:gridCol w="3108960"/>
                <a:gridCol w="2194560"/>
              </a:tblGrid>
              <a:tr h="658368">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Algorithm</a:t>
                      </a:r>
                      <a:endParaRPr lang="en-US" sz="16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2B2340"/>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Core Mechanism</a:t>
                      </a:r>
                      <a:endParaRPr lang="en-US" sz="16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2B2340"/>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Best At</a:t>
                      </a:r>
                      <a:endParaRPr lang="en-US" sz="16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2B2340"/>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Relative Training Speed</a:t>
                      </a:r>
                      <a:endParaRPr lang="en-US" sz="16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2B2340"/>
                    </a:solidFill>
                  </a:tcPr>
                </a:tc>
              </a:tr>
              <a:tr h="658368">
                <a:tc>
                  <a:txBody>
                    <a:bodyPr/>
                    <a:lstStyle/>
                    <a:p>
                      <a:pPr algn="l" indent="0" marL="0">
                        <a:buNone/>
                      </a:pPr>
                      <a:r>
                        <a:rPr lang="en-US" sz="1500" b="1" dirty="0">
                          <a:solidFill>
                            <a:srgbClr val="E8552C"/>
                          </a:solidFill>
                          <a:latin typeface="Calibri" pitchFamily="34" charset="0"/>
                          <a:ea typeface="Calibri" pitchFamily="34" charset="-122"/>
                          <a:cs typeface="Calibri" pitchFamily="34" charset="-120"/>
                        </a:rPr>
                        <a:t>1D-CNN</a:t>
                      </a:r>
                      <a:endParaRPr lang="en-US" sz="15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2340"/>
                          </a:solidFill>
                          <a:latin typeface="Calibri" pitchFamily="34" charset="0"/>
                          <a:ea typeface="Calibri" pitchFamily="34" charset="-122"/>
                          <a:cs typeface="Calibri" pitchFamily="34" charset="-120"/>
                        </a:rPr>
                        <a:t>Local shape detection via convolution</a:t>
                      </a:r>
                      <a:endParaRPr lang="en-US" sz="15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2340"/>
                          </a:solidFill>
                          <a:latin typeface="Calibri" pitchFamily="34" charset="0"/>
                          <a:ea typeface="Calibri" pitchFamily="34" charset="-122"/>
                          <a:cs typeface="Calibri" pitchFamily="34" charset="-120"/>
                        </a:rPr>
                        <a:t>Spotting abnormal beat shapes</a:t>
                      </a:r>
                      <a:endParaRPr lang="en-US" sz="15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2340"/>
                          </a:solidFill>
                          <a:latin typeface="Calibri" pitchFamily="34" charset="0"/>
                          <a:ea typeface="Calibri" pitchFamily="34" charset="-122"/>
                          <a:cs typeface="Calibri" pitchFamily="34" charset="-120"/>
                        </a:rPr>
                        <a:t>Fast</a:t>
                      </a:r>
                      <a:endParaRPr lang="en-US" sz="15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FFFFFF"/>
                    </a:solidFill>
                  </a:tcPr>
                </a:tc>
              </a:tr>
              <a:tr h="658368">
                <a:tc>
                  <a:txBody>
                    <a:bodyPr/>
                    <a:lstStyle/>
                    <a:p>
                      <a:pPr algn="l" indent="0" marL="0">
                        <a:buNone/>
                      </a:pPr>
                      <a:r>
                        <a:rPr lang="en-US" sz="1500" b="1" dirty="0">
                          <a:solidFill>
                            <a:srgbClr val="128C7E"/>
                          </a:solidFill>
                          <a:latin typeface="Calibri" pitchFamily="34" charset="0"/>
                          <a:ea typeface="Calibri" pitchFamily="34" charset="-122"/>
                          <a:cs typeface="Calibri" pitchFamily="34" charset="-120"/>
                        </a:rPr>
                        <a:t>LSTM</a:t>
                      </a:r>
                      <a:endParaRPr lang="en-US" sz="15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F5F2F9"/>
                    </a:solidFill>
                  </a:tcPr>
                </a:tc>
                <a:tc>
                  <a:txBody>
                    <a:bodyPr/>
                    <a:lstStyle/>
                    <a:p>
                      <a:pPr algn="l" indent="0" marL="0">
                        <a:buNone/>
                      </a:pPr>
                      <a:r>
                        <a:rPr lang="en-US" sz="1500" dirty="0">
                          <a:solidFill>
                            <a:srgbClr val="2B2340"/>
                          </a:solidFill>
                          <a:latin typeface="Calibri" pitchFamily="34" charset="0"/>
                          <a:ea typeface="Calibri" pitchFamily="34" charset="-122"/>
                          <a:cs typeface="Calibri" pitchFamily="34" charset="-120"/>
                        </a:rPr>
                        <a:t>Sequential memory (gates + cell state)</a:t>
                      </a:r>
                      <a:endParaRPr lang="en-US" sz="15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F5F2F9"/>
                    </a:solidFill>
                  </a:tcPr>
                </a:tc>
                <a:tc>
                  <a:txBody>
                    <a:bodyPr/>
                    <a:lstStyle/>
                    <a:p>
                      <a:pPr algn="l" indent="0" marL="0">
                        <a:buNone/>
                      </a:pPr>
                      <a:r>
                        <a:rPr lang="en-US" sz="1500" dirty="0">
                          <a:solidFill>
                            <a:srgbClr val="2B2340"/>
                          </a:solidFill>
                          <a:latin typeface="Calibri" pitchFamily="34" charset="0"/>
                          <a:ea typeface="Calibri" pitchFamily="34" charset="-122"/>
                          <a:cs typeface="Calibri" pitchFamily="34" charset="-120"/>
                        </a:rPr>
                        <a:t>Capturing rhythm over time</a:t>
                      </a:r>
                      <a:endParaRPr lang="en-US" sz="15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F5F2F9"/>
                    </a:solidFill>
                  </a:tcPr>
                </a:tc>
                <a:tc>
                  <a:txBody>
                    <a:bodyPr/>
                    <a:lstStyle/>
                    <a:p>
                      <a:pPr algn="l" indent="0" marL="0">
                        <a:buNone/>
                      </a:pPr>
                      <a:r>
                        <a:rPr lang="en-US" sz="1500" dirty="0">
                          <a:solidFill>
                            <a:srgbClr val="2B2340"/>
                          </a:solidFill>
                          <a:latin typeface="Calibri" pitchFamily="34" charset="0"/>
                          <a:ea typeface="Calibri" pitchFamily="34" charset="-122"/>
                          <a:cs typeface="Calibri" pitchFamily="34" charset="-120"/>
                        </a:rPr>
                        <a:t>Slow</a:t>
                      </a:r>
                      <a:endParaRPr lang="en-US" sz="15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F5F2F9"/>
                    </a:solidFill>
                  </a:tcPr>
                </a:tc>
              </a:tr>
              <a:tr h="658368">
                <a:tc>
                  <a:txBody>
                    <a:bodyPr/>
                    <a:lstStyle/>
                    <a:p>
                      <a:pPr algn="l" indent="0" marL="0">
                        <a:buNone/>
                      </a:pPr>
                      <a:r>
                        <a:rPr lang="en-US" sz="1500" b="1" dirty="0">
                          <a:solidFill>
                            <a:srgbClr val="E8A72C"/>
                          </a:solidFill>
                          <a:latin typeface="Calibri" pitchFamily="34" charset="0"/>
                          <a:ea typeface="Calibri" pitchFamily="34" charset="-122"/>
                          <a:cs typeface="Calibri" pitchFamily="34" charset="-120"/>
                        </a:rPr>
                        <a:t>GRU</a:t>
                      </a:r>
                      <a:endParaRPr lang="en-US" sz="15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2340"/>
                          </a:solidFill>
                          <a:latin typeface="Calibri" pitchFamily="34" charset="0"/>
                          <a:ea typeface="Calibri" pitchFamily="34" charset="-122"/>
                          <a:cs typeface="Calibri" pitchFamily="34" charset="-120"/>
                        </a:rPr>
                        <a:t>Simplified sequential memory</a:t>
                      </a:r>
                      <a:endParaRPr lang="en-US" sz="15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2340"/>
                          </a:solidFill>
                          <a:latin typeface="Calibri" pitchFamily="34" charset="0"/>
                          <a:ea typeface="Calibri" pitchFamily="34" charset="-122"/>
                          <a:cs typeface="Calibri" pitchFamily="34" charset="-120"/>
                        </a:rPr>
                        <a:t>Rhythm patterns, lower compute cost</a:t>
                      </a:r>
                      <a:endParaRPr lang="en-US" sz="15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2340"/>
                          </a:solidFill>
                          <a:latin typeface="Calibri" pitchFamily="34" charset="0"/>
                          <a:ea typeface="Calibri" pitchFamily="34" charset="-122"/>
                          <a:cs typeface="Calibri" pitchFamily="34" charset="-120"/>
                        </a:rPr>
                        <a:t>Medium–Fast</a:t>
                      </a:r>
                      <a:endParaRPr lang="en-US" sz="15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FFFFFF"/>
                    </a:solidFill>
                  </a:tcPr>
                </a:tc>
              </a:tr>
              <a:tr h="658368">
                <a:tc>
                  <a:txBody>
                    <a:bodyPr/>
                    <a:lstStyle/>
                    <a:p>
                      <a:pPr algn="l" indent="0" marL="0">
                        <a:buNone/>
                      </a:pPr>
                      <a:r>
                        <a:rPr lang="en-US" sz="1500" b="1" dirty="0">
                          <a:solidFill>
                            <a:srgbClr val="5B2C91"/>
                          </a:solidFill>
                          <a:latin typeface="Calibri" pitchFamily="34" charset="0"/>
                          <a:ea typeface="Calibri" pitchFamily="34" charset="-122"/>
                          <a:cs typeface="Calibri" pitchFamily="34" charset="-120"/>
                        </a:rPr>
                        <a:t>Transformer</a:t>
                      </a:r>
                      <a:endParaRPr lang="en-US" sz="15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F5F2F9"/>
                    </a:solidFill>
                  </a:tcPr>
                </a:tc>
                <a:tc>
                  <a:txBody>
                    <a:bodyPr/>
                    <a:lstStyle/>
                    <a:p>
                      <a:pPr algn="l" indent="0" marL="0">
                        <a:buNone/>
                      </a:pPr>
                      <a:r>
                        <a:rPr lang="en-US" sz="1500" dirty="0">
                          <a:solidFill>
                            <a:srgbClr val="2B2340"/>
                          </a:solidFill>
                          <a:latin typeface="Calibri" pitchFamily="34" charset="0"/>
                          <a:ea typeface="Calibri" pitchFamily="34" charset="-122"/>
                          <a:cs typeface="Calibri" pitchFamily="34" charset="-120"/>
                        </a:rPr>
                        <a:t>Self-attention across all time-steps</a:t>
                      </a:r>
                      <a:endParaRPr lang="en-US" sz="15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F5F2F9"/>
                    </a:solidFill>
                  </a:tcPr>
                </a:tc>
                <a:tc>
                  <a:txBody>
                    <a:bodyPr/>
                    <a:lstStyle/>
                    <a:p>
                      <a:pPr algn="l" indent="0" marL="0">
                        <a:buNone/>
                      </a:pPr>
                      <a:r>
                        <a:rPr lang="en-US" sz="1500" dirty="0">
                          <a:solidFill>
                            <a:srgbClr val="2B2340"/>
                          </a:solidFill>
                          <a:latin typeface="Calibri" pitchFamily="34" charset="0"/>
                          <a:ea typeface="Calibri" pitchFamily="34" charset="-122"/>
                          <a:cs typeface="Calibri" pitchFamily="34" charset="-120"/>
                        </a:rPr>
                        <a:t>Long-range relationships in signal</a:t>
                      </a:r>
                      <a:endParaRPr lang="en-US" sz="15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F5F2F9"/>
                    </a:solidFill>
                  </a:tcPr>
                </a:tc>
                <a:tc>
                  <a:txBody>
                    <a:bodyPr/>
                    <a:lstStyle/>
                    <a:p>
                      <a:pPr algn="l" indent="0" marL="0">
                        <a:buNone/>
                      </a:pPr>
                      <a:r>
                        <a:rPr lang="en-US" sz="1500" dirty="0">
                          <a:solidFill>
                            <a:srgbClr val="2B2340"/>
                          </a:solidFill>
                          <a:latin typeface="Calibri" pitchFamily="34" charset="0"/>
                          <a:ea typeface="Calibri" pitchFamily="34" charset="-122"/>
                          <a:cs typeface="Calibri" pitchFamily="34" charset="-120"/>
                        </a:rPr>
                        <a:t>Medium (parallelizable)</a:t>
                      </a:r>
                      <a:endParaRPr lang="en-US" sz="1500" dirty="0">
                        <a:latin typeface="Calibri" charset="0"/>
                        <a:ea typeface="Calibri" charset="0"/>
                        <a:cs typeface="Calibri" charset="0"/>
                      </a:endParaRPr>
                    </a:p>
                  </a:txBody>
                  <a:tcPr marL="91440" marR="91440" marT="45720" marB="45720" anchor="ctr">
                    <a:lnL w="12700" cap="flat" cmpd="sng" algn="ctr">
                      <a:solidFill>
                        <a:srgbClr val="E4DEEE"/>
                      </a:solidFill>
                      <a:prstDash val="solid"/>
                      <a:round/>
                      <a:headEnd type="none" w="med" len="med"/>
                      <a:tailEnd type="none" w="med" len="med"/>
                    </a:lnL>
                    <a:lnR w="12700" cap="flat" cmpd="sng" algn="ctr">
                      <a:solidFill>
                        <a:srgbClr val="E4DEEE"/>
                      </a:solidFill>
                      <a:prstDash val="solid"/>
                      <a:round/>
                      <a:headEnd type="none" w="med" len="med"/>
                      <a:tailEnd type="none" w="med" len="med"/>
                    </a:lnR>
                    <a:lnT w="12700" cap="flat" cmpd="sng" algn="ctr">
                      <a:solidFill>
                        <a:srgbClr val="E4DEEE"/>
                      </a:solidFill>
                      <a:prstDash val="solid"/>
                      <a:round/>
                      <a:headEnd type="none" w="med" len="med"/>
                      <a:tailEnd type="none" w="med" len="med"/>
                    </a:lnT>
                    <a:lnB w="12700" cap="flat" cmpd="sng" algn="ctr">
                      <a:solidFill>
                        <a:srgbClr val="E4DEEE"/>
                      </a:solidFill>
                      <a:prstDash val="solid"/>
                      <a:round/>
                      <a:headEnd type="none" w="med" len="med"/>
                      <a:tailEnd type="none" w="med" len="med"/>
                    </a:lnB>
                    <a:solidFill>
                      <a:srgbClr val="F5F2F9"/>
                    </a:solidFill>
                  </a:tcPr>
                </a:tc>
              </a:tr>
            </a:tbl>
          </a:graphicData>
        </a:graphic>
      </p:graphicFrame>
      <p:sp>
        <p:nvSpPr>
          <p:cNvPr id="5" name="Text 2"/>
          <p:cNvSpPr txBox="1"/>
          <p:nvPr/>
        </p:nvSpPr>
        <p:spPr>
          <a:xfrm>
            <a:off x="548640" y="5349240"/>
            <a:ext cx="11064240" cy="502920"/>
          </a:xfrm>
          <a:prstGeom prst="rect">
            <a:avLst/>
          </a:prstGeom>
          <a:noFill/>
          <a:ln/>
        </p:spPr>
        <p:txBody>
          <a:bodyPr wrap="square" lIns="0" tIns="0" rIns="0" bIns="0" rtlCol="0" anchor="ctr"/>
          <a:lstStyle/>
          <a:p>
            <a:pPr indent="0" marL="0">
              <a:buNone/>
            </a:pPr>
            <a:r>
              <a:rPr lang="en-US" sz="1500" i="1" dirty="0">
                <a:solidFill>
                  <a:srgbClr val="6E6879"/>
                </a:solidFill>
                <a:latin typeface="Calibri" pitchFamily="34" charset="0"/>
                <a:ea typeface="Calibri" pitchFamily="34" charset="-122"/>
                <a:cs typeface="Calibri" pitchFamily="34" charset="-120"/>
              </a:rPr>
              <a:t>Final comparison will add measured Accuracy, Precision, Recall, and F1-score once all four models are trained on the same train/test split.</a:t>
            </a:r>
            <a:endParaRPr lang="en-US" sz="1500" dirty="0"/>
          </a:p>
        </p:txBody>
      </p:sp>
      <p:sp>
        <p:nvSpPr>
          <p:cNvPr id="6" name="Text 3"/>
          <p:cNvSpPr txBox="1"/>
          <p:nvPr/>
        </p:nvSpPr>
        <p:spPr>
          <a:xfrm>
            <a:off x="11368735" y="6355080"/>
            <a:ext cx="548640" cy="274320"/>
          </a:xfrm>
          <a:prstGeom prst="rect">
            <a:avLst/>
          </a:prstGeom>
          <a:noFill/>
          <a:ln/>
        </p:spPr>
        <p:txBody>
          <a:bodyPr wrap="square" lIns="0" tIns="0" rIns="0" bIns="0" rtlCol="0" anchor="ctr"/>
          <a:lstStyle/>
          <a:p>
            <a:pPr algn="r" indent="0" marL="0">
              <a:buNone/>
            </a:pPr>
            <a:r>
              <a:rPr lang="en-US" sz="1100" dirty="0">
                <a:solidFill>
                  <a:srgbClr val="6E6879"/>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280160" y="1828800"/>
            <a:ext cx="9601200" cy="3200400"/>
          </a:xfrm>
          <a:prstGeom prst="rect">
            <a:avLst/>
          </a:prstGeom>
          <a:solidFill>
            <a:srgbClr val="3E1F63">
              <a:alpha val="88000"/>
            </a:srgbClr>
          </a:solidFill>
          <a:ln/>
        </p:spPr>
      </p:sp>
      <p:sp>
        <p:nvSpPr>
          <p:cNvPr id="3" name="Text 1"/>
          <p:cNvSpPr txBox="1"/>
          <p:nvPr/>
        </p:nvSpPr>
        <p:spPr>
          <a:xfrm>
            <a:off x="1554480" y="2057400"/>
            <a:ext cx="9052560" cy="1965960"/>
          </a:xfrm>
          <a:prstGeom prst="rect">
            <a:avLst/>
          </a:prstGeom>
          <a:noFill/>
          <a:ln/>
        </p:spPr>
        <p:txBody>
          <a:bodyPr wrap="square" lIns="0" tIns="0" rIns="0" bIns="0" rtlCol="0" anchor="ctr"/>
          <a:lstStyle/>
          <a:p>
            <a:pPr algn="ctr" indent="0" marL="0">
              <a:lnSpc>
                <a:spcPts val="3400"/>
              </a:lnSpc>
              <a:buNone/>
            </a:pPr>
            <a:r>
              <a:rPr lang="en-US" sz="2600" b="1" i="1" dirty="0">
                <a:solidFill>
                  <a:srgbClr val="FFFFFF"/>
                </a:solidFill>
                <a:latin typeface="Cambria" pitchFamily="34" charset="0"/>
                <a:ea typeface="Cambria" pitchFamily="34" charset="-122"/>
                <a:cs typeface="Cambria" pitchFamily="34" charset="-120"/>
              </a:rPr>
              <a:t>“Four different ways of thinking, one goal: catching an irregular heartbeat before it becomes a problem.”</a:t>
            </a:r>
            <a:endParaRPr lang="en-US" sz="2600" dirty="0"/>
          </a:p>
        </p:txBody>
      </p:sp>
      <p:sp>
        <p:nvSpPr>
          <p:cNvPr id="4" name="Text 2"/>
          <p:cNvSpPr txBox="1"/>
          <p:nvPr/>
        </p:nvSpPr>
        <p:spPr>
          <a:xfrm>
            <a:off x="1554480" y="4160520"/>
            <a:ext cx="9052560" cy="457200"/>
          </a:xfrm>
          <a:prstGeom prst="rect">
            <a:avLst/>
          </a:prstGeom>
          <a:noFill/>
          <a:ln/>
        </p:spPr>
        <p:txBody>
          <a:bodyPr wrap="square" lIns="0" tIns="0" rIns="0" bIns="0" rtlCol="0" anchor="ctr"/>
          <a:lstStyle/>
          <a:p>
            <a:pPr algn="ctr" indent="0" marL="0">
              <a:buNone/>
            </a:pPr>
            <a:r>
              <a:rPr lang="en-US" sz="1400" spc="300" kern="0" dirty="0">
                <a:solidFill>
                  <a:srgbClr val="FFFFFF"/>
                </a:solidFill>
                <a:latin typeface="Calibri" pitchFamily="34" charset="0"/>
                <a:ea typeface="Calibri" pitchFamily="34" charset="-122"/>
                <a:cs typeface="Calibri" pitchFamily="34" charset="-120"/>
              </a:rPr>
              <a:t>CNN  ·  LSTM  ·  GRU  ·  TRANSFORMER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2026-09-23T05:04:48Z</dcterms:created>
  <dcterms:modified xsi:type="dcterms:W3CDTF">2026-09-23T05:04:48Z</dcterms:modified>
</cp:coreProperties>
</file>